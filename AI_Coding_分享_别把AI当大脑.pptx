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3820e6c91e47f8" /><Relationship Type="http://schemas.openxmlformats.org/officeDocument/2006/relationships/extended-properties" Target="/docProps/app.xml" Id="R9af07e4e9a0e48bb" /><Relationship Type="http://schemas.openxmlformats.org/officeDocument/2006/relationships/officeDocument" Target="/ppt/presentation.xml" Id="R8aaea0b9efb74a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1812dffae14a81"/>
  </p:sldMasterIdLst>
  <p:notesMasterIdLst>
    <p:notesMasterId xmlns:r="http://schemas.openxmlformats.org/officeDocument/2006/relationships" r:id="R0f1f558a9e964b74"/>
  </p:notesMasterIdLst>
  <p:sldIdLst>
    <p:sldId xmlns:r="http://schemas.openxmlformats.org/officeDocument/2006/relationships" id="256" r:id="R38cc2c9db0b645b3"/>
    <p:sldId xmlns:r="http://schemas.openxmlformats.org/officeDocument/2006/relationships" id="257" r:id="R3608388b2b1c40fd"/>
    <p:sldId xmlns:r="http://schemas.openxmlformats.org/officeDocument/2006/relationships" id="258" r:id="R44dcb71305b94d7b"/>
    <p:sldId xmlns:r="http://schemas.openxmlformats.org/officeDocument/2006/relationships" id="259" r:id="Rbc7f1e751b1d4147"/>
    <p:sldId xmlns:r="http://schemas.openxmlformats.org/officeDocument/2006/relationships" id="260" r:id="R63449902bab542cb"/>
    <p:sldId xmlns:r="http://schemas.openxmlformats.org/officeDocument/2006/relationships" id="261" r:id="Ra66062034bd549c0"/>
    <p:sldId xmlns:r="http://schemas.openxmlformats.org/officeDocument/2006/relationships" id="262" r:id="Rf6fd64d121234edf"/>
    <p:sldId xmlns:r="http://schemas.openxmlformats.org/officeDocument/2006/relationships" id="263" r:id="Rf1828078c72141e4"/>
    <p:sldId xmlns:r="http://schemas.openxmlformats.org/officeDocument/2006/relationships" id="264" r:id="R231bb2e922284b73"/>
    <p:sldId xmlns:r="http://schemas.openxmlformats.org/officeDocument/2006/relationships" id="265" r:id="R4ff4a2e995574b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c5484d19eb4acb" /><Relationship Type="http://schemas.openxmlformats.org/officeDocument/2006/relationships/slideMaster" Target="/ppt/slideMasters/slideMaster1.xml" Id="R0e1812dffae14a81" /><Relationship Type="http://schemas.openxmlformats.org/officeDocument/2006/relationships/notesMaster" Target="/ppt/notesMasters/notesMaster1.xml" Id="R0f1f558a9e964b74" /><Relationship Type="http://schemas.openxmlformats.org/officeDocument/2006/relationships/presProps" Target="/ppt/presProps.xml" Id="R11216debcab94197" /><Relationship Type="http://schemas.openxmlformats.org/officeDocument/2006/relationships/tableStyles" Target="/ppt/tableStyles.xml" Id="Rf2532693c3b34c8c" /><Relationship Type="http://schemas.openxmlformats.org/officeDocument/2006/relationships/slide" Target="/ppt/slides/slide1.xml" Id="R38cc2c9db0b645b3" /><Relationship Type="http://schemas.openxmlformats.org/officeDocument/2006/relationships/slide" Target="/ppt/slides/slide2.xml" Id="R3608388b2b1c40fd" /><Relationship Type="http://schemas.openxmlformats.org/officeDocument/2006/relationships/slide" Target="/ppt/slides/slide3.xml" Id="R44dcb71305b94d7b" /><Relationship Type="http://schemas.openxmlformats.org/officeDocument/2006/relationships/slide" Target="/ppt/slides/slide4.xml" Id="Rbc7f1e751b1d4147" /><Relationship Type="http://schemas.openxmlformats.org/officeDocument/2006/relationships/slide" Target="/ppt/slides/slide5.xml" Id="R63449902bab542cb" /><Relationship Type="http://schemas.openxmlformats.org/officeDocument/2006/relationships/slide" Target="/ppt/slides/slide6.xml" Id="Ra66062034bd549c0" /><Relationship Type="http://schemas.openxmlformats.org/officeDocument/2006/relationships/slide" Target="/ppt/slides/slide7.xml" Id="Rf6fd64d121234edf" /><Relationship Type="http://schemas.openxmlformats.org/officeDocument/2006/relationships/slide" Target="/ppt/slides/slide8.xml" Id="Rf1828078c72141e4" /><Relationship Type="http://schemas.openxmlformats.org/officeDocument/2006/relationships/slide" Target="/ppt/slides/slide9.xml" Id="R231bb2e922284b73" /><Relationship Type="http://schemas.openxmlformats.org/officeDocument/2006/relationships/slide" Target="/ppt/slides/slide10.xml" Id="R4ff4a2e995574b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8410187a4d4c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61f7e893e6451a" /><Relationship Type="http://schemas.openxmlformats.org/officeDocument/2006/relationships/notesMaster" Target="/ppt/notesMasters/notesMaster1.xml" Id="Rde486becf70643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55175430ae4304" /><Relationship Type="http://schemas.openxmlformats.org/officeDocument/2006/relationships/notesMaster" Target="/ppt/notesMasters/notesMaster1.xml" Id="R009afc83141541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7cc200bde84708" /><Relationship Type="http://schemas.openxmlformats.org/officeDocument/2006/relationships/notesMaster" Target="/ppt/notesMasters/notesMaster1.xml" Id="R5fca3dbc6b7040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af1190538d4a84" /><Relationship Type="http://schemas.openxmlformats.org/officeDocument/2006/relationships/notesMaster" Target="/ppt/notesMasters/notesMaster1.xml" Id="R8d9256e4224042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77031ec27a4f25" /><Relationship Type="http://schemas.openxmlformats.org/officeDocument/2006/relationships/notesMaster" Target="/ppt/notesMasters/notesMaster1.xml" Id="R2f14a611345147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e28b6bf58e4562" /><Relationship Type="http://schemas.openxmlformats.org/officeDocument/2006/relationships/notesMaster" Target="/ppt/notesMasters/notesMaster1.xml" Id="Rd3dca6b408694e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336e3e454c4d3b" /><Relationship Type="http://schemas.openxmlformats.org/officeDocument/2006/relationships/notesMaster" Target="/ppt/notesMasters/notesMaster1.xml" Id="Rbfdeebd7e0ef4e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54b9a0a5974fe6" /><Relationship Type="http://schemas.openxmlformats.org/officeDocument/2006/relationships/notesMaster" Target="/ppt/notesMasters/notesMaster1.xml" Id="Rf6702f01ac604c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c35f9a164b413f" /><Relationship Type="http://schemas.openxmlformats.org/officeDocument/2006/relationships/notesMaster" Target="/ppt/notesMasters/notesMaster1.xml" Id="R997aaed47ec14a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f944326442419a" /><Relationship Type="http://schemas.openxmlformats.org/officeDocument/2006/relationships/notesMaster" Target="/ppt/notesMasters/notesMaster1.xml" Id="R2a9c31a609994f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材料：用户提供的 7 张 AI Coding 思维导图截图；本页观点均据此整理。</a:t>
            </a:r>
          </a:p>
          <a:p xmlns:a="http://schemas.openxmlformats.org/drawingml/2006/main">
            <a:r>
              <a:t>开场：今天不讨论‘AI 会不会取代人’，而是讨论‘人在 AI 时代应当保留什么’。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材料：用户提供的 7 张 AI Coding 思维导图截图；本页观点均据此整理。</a:t>
            </a:r>
          </a:p>
          <a:p xmlns:a="http://schemas.openxmlformats.org/drawingml/2006/main">
            <a:r>
              <a:t>材料强调：AI Coding 的真实价值在脚本、自动化与快速原型，但不能把会生成代码与软件工程能力混为一谈。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材料：用户提供的 7 张 AI Coding 思维导图截图；本页观点均据此整理。</a:t>
            </a:r>
          </a:p>
          <a:p xmlns:a="http://schemas.openxmlformats.org/drawingml/2006/main">
            <a:r>
              <a:t>类比：预制菜可以填饱肚子，却养不出健康的人。AI 生成代码偏向局部产出，工程实践处理的是长期系统。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材料：用户提供的 7 张 AI Coding 思维导图截图；本页观点均据此整理。</a:t>
            </a:r>
          </a:p>
          <a:p xmlns:a="http://schemas.openxmlformats.org/drawingml/2006/main">
            <a:r>
              <a:t>材料里提出‘效率幻觉’：AI 可能将时间从编码迁移到提示、审查与纠错，而非自然减少总工作量。这里避免把其中的具体百分比作为通行结论。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材料：用户提供的 7 张 AI Coding 思维导图截图；本页观点均据此整理。</a:t>
            </a:r>
          </a:p>
          <a:p xmlns:a="http://schemas.openxmlformats.org/drawingml/2006/main">
            <a:r>
              <a:t>材料强调：代码最恶心的地方往往是‘几乎对’，它可能通过审查、合并进主干，最终在线上以最高成本暴露。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材料：用户提供的 7 张 AI Coding 思维导图截图；本页观点均据此整理。</a:t>
            </a:r>
          </a:p>
          <a:p xmlns:a="http://schemas.openxmlformats.org/drawingml/2006/main">
            <a:r>
              <a:t>材料称为‘认知外包’：当人不再拆需求、想架构或读日志，能力会被工具替代为对话与复制粘贴。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材料：用户提供的 7 张 AI Coding 思维导图截图；本页观点均据此整理。</a:t>
            </a:r>
          </a:p>
          <a:p xmlns:a="http://schemas.openxmlformats.org/drawingml/2006/main">
            <a:r>
              <a:t>材料提出：AI 是放大器。强者用它加速判断，弱者会因依赖而加速暴露无知。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材料：用户提供的 7 张 AI Coding 思维导图截图；本页观点均据此整理。</a:t>
            </a:r>
          </a:p>
          <a:p xmlns:a="http://schemas.openxmlformats.org/drawingml/2006/main">
            <a:r>
              <a:t>材料将生产环境风险归纳为责任、安全、合规与隐性知识。可据团队实践补充准入和代码审查规则。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材料：用户提供的 7 张 AI Coding 思维导图截图；本页观点均据此整理。</a:t>
            </a:r>
          </a:p>
          <a:p xmlns:a="http://schemas.openxmlformats.org/drawingml/2006/main">
            <a:r>
              <a:t>材料将 AI 时代的技能分为底层工具操作与高地能力：架构、业务理解、现场诊断与系统判断。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材料：用户提供的 7 张 AI Coding 思维导图截图；本页观点均据此整理。</a:t>
            </a:r>
          </a:p>
          <a:p xmlns:a="http://schemas.openxmlformats.org/drawingml/2006/main">
            <a:r>
              <a:t>收尾：邀请听众盘点自己当前使用 AI 的层次，明确接下来应强化的判断力与工程基本功。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b7e3a57cc4f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93a9d586624e70" /><Relationship Type="http://schemas.openxmlformats.org/officeDocument/2006/relationships/slideLayout" Target="/ppt/slideLayouts/slideLayout1.xml" Id="Rae876d068ead42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876d068ead42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3f8980bf14725" /><Relationship Type="http://schemas.openxmlformats.org/officeDocument/2006/relationships/notesSlide" Target="/ppt/notesSlides/notesSlide1.xml" Id="R8e5c5503aef84c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3cb4def48464e" /><Relationship Type="http://schemas.openxmlformats.org/officeDocument/2006/relationships/notesSlide" Target="/ppt/notesSlides/notesSlide2.xml" Id="R37b66b8690244e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d738efb444097" /><Relationship Type="http://schemas.openxmlformats.org/officeDocument/2006/relationships/image" Target="/ppt/media/image.jpeg" Id="R29bead112d584233" /><Relationship Type="http://schemas.openxmlformats.org/officeDocument/2006/relationships/notesSlide" Target="/ppt/notesSlides/notesSlide3.xml" Id="Rc8f581cbeb2243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f4a25cc2f4545" /><Relationship Type="http://schemas.openxmlformats.org/officeDocument/2006/relationships/image" Target="/ppt/media/image2.jpeg" Id="R398c750f1da0495f" /><Relationship Type="http://schemas.openxmlformats.org/officeDocument/2006/relationships/notesSlide" Target="/ppt/notesSlides/notesSlide4.xml" Id="Ra4c868178fe148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3d52ea9a64962" /><Relationship Type="http://schemas.openxmlformats.org/officeDocument/2006/relationships/image" Target="/ppt/media/image3.jpeg" Id="Rd183705a457a4671" /><Relationship Type="http://schemas.openxmlformats.org/officeDocument/2006/relationships/notesSlide" Target="/ppt/notesSlides/notesSlide5.xml" Id="R0c60efb800664a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93930594f471a" /><Relationship Type="http://schemas.openxmlformats.org/officeDocument/2006/relationships/image" Target="/ppt/media/image4.jpeg" Id="Rcfa68bc4ba134016" /><Relationship Type="http://schemas.openxmlformats.org/officeDocument/2006/relationships/notesSlide" Target="/ppt/notesSlides/notesSlide6.xml" Id="R8225a0afd0bf4e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d850c41ba4a50" /><Relationship Type="http://schemas.openxmlformats.org/officeDocument/2006/relationships/notesSlide" Target="/ppt/notesSlides/notesSlide7.xml" Id="R1c10643fa2d745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cfe032e964ca4" /><Relationship Type="http://schemas.openxmlformats.org/officeDocument/2006/relationships/notesSlide" Target="/ppt/notesSlides/notesSlide8.xml" Id="R5de3adedc1b246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11dd0b5e2493d" /><Relationship Type="http://schemas.openxmlformats.org/officeDocument/2006/relationships/image" Target="/ppt/media/image5.jpeg" Id="Rfe21655fc59e4beb" /><Relationship Type="http://schemas.openxmlformats.org/officeDocument/2006/relationships/notesSlide" Target="/ppt/notesSlides/notesSlide9.xml" Id="R9f718b599cea49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b653a64784b91" /><Relationship Type="http://schemas.openxmlformats.org/officeDocument/2006/relationships/notesSlide" Target="/ppt/notesSlides/notesSlide10.xml" Id="R56424aa7a4e34f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2DC17-7116-4B2C-8232-271F2EC0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AI CODING 分享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6293F-69F7-4884-8BB4-3FB06ACC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41B2D"/>
                </a:solidFill>
              </a:defRPr>
            </a:pPr>
            <a:r>
              <a:rPr sz="4800" b="1">
                <a:solidFill>
                  <a:srgbClr val="141B2D"/>
                </a:solidFill>
              </a:rPr>
              <a:t>别把 AI 当大脑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D7F05-43F6-4C0C-B825-2C740CEF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C80"/>
                </a:solidFill>
              </a:defRPr>
            </a:pPr>
            <a:r>
              <a:rPr sz="2025" b="0">
                <a:solidFill>
                  <a:srgbClr val="5F6C80"/>
                </a:solidFill>
              </a:rPr>
              <a:t>把它当作放大器：速度交给工具，判断留在人手里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AC7BD-91F4-4812-A970-08751134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5757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72A73-93C1-4CB0-9FAD-B82A4C35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C80"/>
                </a:solidFill>
              </a:defRPr>
            </a:pPr>
            <a:r>
              <a:rPr sz="1500" b="1">
                <a:solidFill>
                  <a:srgbClr val="5F6C80"/>
                </a:solidFill>
              </a:rPr>
              <a:t>今天的主线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D6EEC-0DEE-430E-8526-FDD2A0FD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5191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1B2D"/>
                </a:solidFill>
              </a:defRPr>
            </a:pPr>
            <a:r>
              <a:rPr sz="2250" b="1">
                <a:solidFill>
                  <a:srgbClr val="141B2D"/>
                </a:solidFill>
              </a:rPr>
              <a:t>能写代码 ≠ 能交付软件</a:t>
            </a:r>
          </a:p>
          <a:p xmlns:a="http://schemas.openxmlformats.org/drawingml/2006/main">
            <a:pPr algn="l">
              <a:defRPr sz="2250" b="1">
                <a:solidFill>
                  <a:srgbClr val="141B2D"/>
                </a:solidFill>
              </a:defRPr>
            </a:pPr>
            <a:r>
              <a:rPr sz="2250" b="1">
                <a:solidFill>
                  <a:srgbClr val="141B2D"/>
                </a:solidFill>
              </a:rPr>
              <a:t>效率提升 ≠ 判断力提升</a:t>
            </a:r>
          </a:p>
          <a:p xmlns:a="http://schemas.openxmlformats.org/drawingml/2006/main">
            <a:pPr algn="l">
              <a:defRPr sz="2250" b="1">
                <a:solidFill>
                  <a:srgbClr val="141B2D"/>
                </a:solidFill>
              </a:defRPr>
            </a:pPr>
            <a:r>
              <a:rPr sz="2250" b="1">
                <a:solidFill>
                  <a:srgbClr val="141B2D"/>
                </a:solidFill>
              </a:rPr>
              <a:t>会用 AI ≠ 可以放弃负责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73C83-F8EA-4256-AC99-7394BC77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8191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F063F-5FC8-466F-B846-74516F1D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38250"/>
            <a:ext cx="180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AI</a:t>
            </a:r>
          </a:p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×</a:t>
            </a:r>
          </a:p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CBA02-2911-44A0-8AF1-CBEFD434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388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C80"/>
                </a:solidFill>
              </a:defRPr>
            </a:pPr>
            <a:r>
              <a:rPr sz="1125" b="0">
                <a:solidFill>
                  <a:srgbClr val="5F6C80"/>
                </a:solidFill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15782907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CEAD2-375D-418A-9A41-DC321C89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AI CODING 分享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F814B-827C-459D-AF5D-A12758DF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B2D"/>
                </a:solidFill>
              </a:defRPr>
            </a:pPr>
            <a:r>
              <a:rPr sz="3000" b="1">
                <a:solidFill>
                  <a:srgbClr val="141B2D"/>
                </a:solidFill>
              </a:rPr>
              <a:t>AI 编程并非骗局，但神话需要降温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D01E1-E3D0-4058-9BD2-9C72636A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270C4-E2B9-4BB3-804B-986FBC04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C80"/>
                </a:solidFill>
              </a:defRPr>
            </a:pPr>
            <a:r>
              <a:rPr sz="1200" b="0">
                <a:solidFill>
                  <a:srgbClr val="5F6C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B5604-DB3C-4B3F-AF4A-F951D87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C80"/>
                </a:solidFill>
              </a:defRPr>
            </a:pPr>
            <a:r>
              <a:rPr sz="1950" b="0">
                <a:solidFill>
                  <a:srgbClr val="5F6C80"/>
                </a:solidFill>
              </a:rPr>
              <a:t>一个更准确的表达：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EC19F-ABF0-4765-BB22-684174DB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936E"/>
                </a:solidFill>
              </a:defRPr>
            </a:pPr>
            <a:r>
              <a:rPr sz="2850" b="1">
                <a:solidFill>
                  <a:srgbClr val="24936E"/>
                </a:solidFill>
              </a:rPr>
              <a:t>脚本编写 + 自动化 + 快速原型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54F3E-0519-47BE-855E-3EAC81F4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C80"/>
                </a:solidFill>
              </a:defRPr>
            </a:pPr>
            <a:r>
              <a:rPr sz="1650" b="1">
                <a:solidFill>
                  <a:srgbClr val="5F6C80"/>
                </a:solidFill>
              </a:rPr>
              <a:t>真实价值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3022C-803B-487D-9628-895CAE24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B2D"/>
                </a:solidFill>
              </a:defRPr>
            </a:pPr>
            <a:r>
              <a:rPr sz="2100" b="1">
                <a:solidFill>
                  <a:srgbClr val="141B2D"/>
                </a:solidFill>
              </a:rPr>
              <a:t>但把它包装成‘普通人一键成为工程师’，</a:t>
            </a:r>
          </a:p>
          <a:p xmlns:a="http://schemas.openxmlformats.org/drawingml/2006/main">
            <a:pPr algn="l">
              <a:defRPr sz="2100" b="1">
                <a:solidFill>
                  <a:srgbClr val="141B2D"/>
                </a:solidFill>
              </a:defRPr>
            </a:pPr>
            <a:r>
              <a:rPr sz="2100" b="1">
                <a:solidFill>
                  <a:srgbClr val="141B2D"/>
                </a:solidFill>
              </a:rPr>
              <a:t>就是把局部真相炒成了不可能兑现的神话。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1EB38-323F-4E3E-A2FE-9BF183A6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095500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E2059-E845-4A88-A8DB-461CE7C5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28875"/>
            <a:ext cx="266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1B2D"/>
                </a:solidFill>
              </a:defRPr>
            </a:pPr>
            <a:r>
              <a:rPr sz="2250" b="1">
                <a:solidFill>
                  <a:srgbClr val="141B2D"/>
                </a:solidFill>
              </a:rPr>
              <a:t>工具会写代码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1">
                <a:solidFill>
                  <a:srgbClr val="141B2D"/>
                </a:solidFill>
              </a:defRPr>
            </a:pPr>
            <a:r>
              <a:rPr sz="2250" b="1">
                <a:solidFill>
                  <a:srgbClr val="141B2D"/>
                </a:solidFill>
              </a:rPr>
              <a:t>不等于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1">
                <a:solidFill>
                  <a:srgbClr val="141B2D"/>
                </a:solidFill>
              </a:defRPr>
            </a:pPr>
            <a:r>
              <a:rPr sz="2250" b="1">
                <a:solidFill>
                  <a:srgbClr val="141B2D"/>
                </a:solidFill>
              </a:rPr>
              <a:t>人具备软件工程实践能力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A581D-2BE3-4512-887D-A68CF871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D8DFF"/>
                </a:solidFill>
              </a:defRPr>
            </a:pPr>
            <a:r>
              <a:rPr sz="1575" b="0">
                <a:solidFill>
                  <a:srgbClr val="3D8DFF"/>
                </a:solidFill>
              </a:rPr>
              <a:t>关键词：价值 / 边界 / 责任</a:t>
            </a:r>
          </a:p>
        </p:txBody>
      </p:sp>
    </p:spTree>
    <p:extLst>
      <p:ext uri="{BB962C8B-B14F-4D97-AF65-F5344CB8AC3E}">
        <p14:creationId xmlns:p14="http://schemas.microsoft.com/office/powerpoint/2010/main" val="18186686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11ECD-748D-4C6C-9C66-CA75473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AI CODING 分享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D9F25-7BD5-48F2-9428-043713ED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B2D"/>
                </a:solidFill>
              </a:defRPr>
            </a:pPr>
            <a:r>
              <a:rPr sz="3000" b="1">
                <a:solidFill>
                  <a:srgbClr val="141B2D"/>
                </a:solidFill>
              </a:rPr>
              <a:t>AI 生成代码像预制菜：快，但不是完整营养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7460F-E92A-48E6-923C-E1A3B17D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764E2-A5C5-482F-B443-893CD0F5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C80"/>
                </a:solidFill>
              </a:defRPr>
            </a:pPr>
            <a:r>
              <a:rPr sz="1200" b="0">
                <a:solidFill>
                  <a:srgbClr val="5F6C80"/>
                </a:solidFill>
              </a:rPr>
              <a:t>03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ead112d584233"/>
          <a:stretch xmlns:a="http://schemas.openxmlformats.org/drawingml/2006/main"/>
        </p:blipFill>
        <p:spPr>
          <a:xfrm xmlns:a="http://schemas.openxmlformats.org/drawingml/2006/main">
            <a:off x="6667500" y="2625445"/>
            <a:ext cx="4762500" cy="227386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EA33B-92EF-475E-A47F-36E0624F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AI 擅长的事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72A09-76A8-4203-9618-3092E526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57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FAF0C-64BF-4334-BBA3-D89F2E6B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1B2D"/>
                </a:solidFill>
              </a:defRPr>
            </a:pPr>
            <a:r>
              <a:rPr sz="1800" b="0">
                <a:solidFill>
                  <a:srgbClr val="141B2D"/>
                </a:solidFill>
              </a:rPr>
              <a:t>吐出可运行的代码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ADA1C-5918-4AF2-8FFC-7E71B698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28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9C92E-FDEA-4EFD-8E88-EC575340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1B2D"/>
                </a:solidFill>
              </a:defRPr>
            </a:pPr>
            <a:r>
              <a:rPr sz="1800" b="0">
                <a:solidFill>
                  <a:srgbClr val="141B2D"/>
                </a:solidFill>
              </a:rPr>
              <a:t>解决单点问题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A207B-8C8D-4295-AECB-C46F6B53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00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2DB8B-588B-4BD0-8C39-3DEC395B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1B2D"/>
                </a:solidFill>
              </a:defRPr>
            </a:pPr>
            <a:r>
              <a:rPr sz="1800" b="0">
                <a:solidFill>
                  <a:srgbClr val="141B2D"/>
                </a:solidFill>
              </a:rPr>
              <a:t>在明确任务上追求速度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B1800-AF0C-40C7-BDB8-CA8AECE5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64545"/>
                </a:solidFill>
              </a:defRPr>
            </a:pPr>
            <a:r>
              <a:rPr sz="2025" b="1">
                <a:solidFill>
                  <a:srgbClr val="D64545"/>
                </a:solidFill>
              </a:rPr>
              <a:t>软件工程还要面对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C76A1-C4A7-4CEC-926E-1136B268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B2D"/>
                </a:solidFill>
              </a:defRPr>
            </a:pPr>
            <a:r>
              <a:rPr sz="2100" b="1">
                <a:solidFill>
                  <a:srgbClr val="141B2D"/>
                </a:solidFill>
              </a:rPr>
              <a:t>需求理解、边界与安全、</a:t>
            </a:r>
          </a:p>
          <a:p xmlns:a="http://schemas.openxmlformats.org/drawingml/2006/main">
            <a:pPr algn="l">
              <a:defRPr sz="2100" b="1">
                <a:solidFill>
                  <a:srgbClr val="141B2D"/>
                </a:solidFill>
              </a:defRPr>
            </a:pPr>
            <a:r>
              <a:rPr sz="2100" b="1">
                <a:solidFill>
                  <a:srgbClr val="141B2D"/>
                </a:solidFill>
              </a:rPr>
              <a:t>协作，以及长期演进</a:t>
            </a:r>
          </a:p>
        </p:txBody>
      </p:sp>
    </p:spTree>
    <p:extLst>
      <p:ext uri="{BB962C8B-B14F-4D97-AF65-F5344CB8AC3E}">
        <p14:creationId xmlns:p14="http://schemas.microsoft.com/office/powerpoint/2010/main" val="16439223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23799-C543-4231-9DD5-EDC15D89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AI CODING 分享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23DB5-3123-4228-A5C6-64054E9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B2D"/>
                </a:solidFill>
              </a:defRPr>
            </a:pPr>
            <a:r>
              <a:rPr sz="3000" b="1">
                <a:solidFill>
                  <a:srgbClr val="141B2D"/>
                </a:solidFill>
              </a:rPr>
              <a:t>效率幻觉：被省下的是输入时间，不是责任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1BC39-E574-4056-9043-CFD71922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801E0-52D8-4D96-8576-98D2242D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C80"/>
                </a:solidFill>
              </a:defRPr>
            </a:pPr>
            <a:r>
              <a:rPr sz="1200" b="0">
                <a:solidFill>
                  <a:srgbClr val="5F6C80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B535D-8C2B-4CD2-A11D-AFD4905C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6C80"/>
                </a:solidFill>
              </a:defRPr>
            </a:pPr>
            <a:r>
              <a:rPr sz="1800" b="1">
                <a:solidFill>
                  <a:srgbClr val="5F6C80"/>
                </a:solidFill>
              </a:rPr>
              <a:t>过去的流程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3F198-2F08-4794-BDD5-C54BFF24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自己写代码  →  查资料 / 读文档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65282-D37D-4E79-9422-0707461D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使用 AI 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4F1ED-34F7-44AE-BCBD-B04CE3B6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写提示词  →  等生成  →  逐行审查  →  修正错误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0DE2E-7192-44CD-A4FC-1E9BD819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561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3EF0F-682E-460C-8D68-C4C8C31F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B2D"/>
                </a:solidFill>
              </a:defRPr>
            </a:pPr>
            <a:r>
              <a:rPr sz="1800" b="1">
                <a:solidFill>
                  <a:srgbClr val="141B2D"/>
                </a:solidFill>
              </a:rPr>
              <a:t>没有明确任务和验收标准，AI 只会让人更忙。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c750f1da0495f"/>
          <a:stretch xmlns:a="http://schemas.openxmlformats.org/drawingml/2006/main"/>
        </p:blipFill>
        <p:spPr>
          <a:xfrm xmlns:a="http://schemas.openxmlformats.org/drawingml/2006/main">
            <a:off x="6953250" y="2455972"/>
            <a:ext cx="4286250" cy="25175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2820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D7E5E-5A17-4379-B0A6-3C12441C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AI CODING 分享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64632-1FDC-4088-A89F-1BFF1944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B2D"/>
                </a:solidFill>
              </a:defRPr>
            </a:pPr>
            <a:r>
              <a:rPr sz="3000" b="1">
                <a:solidFill>
                  <a:srgbClr val="141B2D"/>
                </a:solidFill>
              </a:rPr>
              <a:t>生产代码最怕的，是“几乎对”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56DFF-0EC0-4DB3-BD5E-87464EEB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226AD-8F2C-44CE-963C-0522DBF4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C80"/>
                </a:solidFill>
              </a:defRPr>
            </a:pPr>
            <a:r>
              <a:rPr sz="1200" b="0">
                <a:solidFill>
                  <a:srgbClr val="5F6C80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71A04-0163-44A2-8DB3-3369BFB6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4936E"/>
                </a:solidFill>
              </a:defRPr>
            </a:pPr>
            <a:r>
              <a:rPr sz="2475" b="1">
                <a:solidFill>
                  <a:srgbClr val="24936E"/>
                </a:solidFill>
              </a:rPr>
              <a:t>看起来能跑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6599B-F415-43E2-96C1-D24CC137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050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85EF7-CE1F-40DA-8D56-80DDF5E3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86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1B2D"/>
                </a:solidFill>
              </a:defRPr>
            </a:pPr>
            <a:r>
              <a:rPr sz="2475" b="1">
                <a:solidFill>
                  <a:srgbClr val="141B2D"/>
                </a:solidFill>
              </a:rPr>
              <a:t>悄悄合并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DEBBF-9AFE-4347-8333-BF18A531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050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4728D-5B4A-432B-A78E-60C40B1E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1B2D"/>
                </a:solidFill>
              </a:defRPr>
            </a:pPr>
            <a:r>
              <a:rPr sz="2475" b="1">
                <a:solidFill>
                  <a:srgbClr val="141B2D"/>
                </a:solidFill>
              </a:rPr>
              <a:t>细节埋雷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E979F-F3E1-44F7-914B-4A90DA0F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7CEAD-D4A5-4EB4-8C99-96A2045F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7657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64545"/>
                </a:solidFill>
              </a:defRPr>
            </a:pPr>
            <a:r>
              <a:rPr sz="2625" b="1">
                <a:solidFill>
                  <a:srgbClr val="D64545"/>
                </a:solidFill>
              </a:rPr>
              <a:t>线上才发现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3981A-F62D-4CE0-AE8F-A880EF1E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5400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01995-94B5-4634-AE7F-AE0EB6C6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B2D"/>
                </a:solidFill>
              </a:defRPr>
            </a:pPr>
            <a:r>
              <a:rPr sz="2100" b="1">
                <a:solidFill>
                  <a:srgbClr val="141B2D"/>
                </a:solidFill>
              </a:rPr>
              <a:t>Demo 是短期局部最优</a:t>
            </a:r>
          </a:p>
          <a:p xmlns:a="http://schemas.openxmlformats.org/drawingml/2006/main">
            <a:pPr algn="l">
              <a:defRPr sz="2100" b="1">
                <a:solidFill>
                  <a:srgbClr val="141B2D"/>
                </a:solidFill>
              </a:defRPr>
            </a:pPr>
            <a:r>
              <a:rPr sz="2100" b="1">
                <a:solidFill>
                  <a:srgbClr val="141B2D"/>
                </a:solidFill>
              </a:rPr>
              <a:t>生产环境要承受长期演化与扩展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3705a457a4671"/>
          <a:stretch xmlns:a="http://schemas.openxmlformats.org/drawingml/2006/main"/>
        </p:blipFill>
        <p:spPr>
          <a:xfrm xmlns:a="http://schemas.openxmlformats.org/drawingml/2006/main">
            <a:off x="6699250" y="3524250"/>
            <a:ext cx="4127500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0793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2E296-DA0F-48FD-891B-5F601431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AI CODING 分享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4DA9F-EDAD-4900-9D86-9CC61955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B2D"/>
                </a:solidFill>
              </a:defRPr>
            </a:pPr>
            <a:r>
              <a:rPr sz="3000" b="1">
                <a:solidFill>
                  <a:srgbClr val="141B2D"/>
                </a:solidFill>
              </a:rPr>
              <a:t>最大的风险，是把判断力外包给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738E9-1A6F-423E-BC65-1008EF07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CA319-5CFC-448E-A077-934AB15C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C80"/>
                </a:solidFill>
              </a:defRPr>
            </a:pPr>
            <a:r>
              <a:rPr sz="1200" b="0">
                <a:solidFill>
                  <a:srgbClr val="5F6C80"/>
                </a:solidFill>
              </a:rPr>
              <a:t>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68bc4ba134016"/>
          <a:stretch xmlns:a="http://schemas.openxmlformats.org/drawingml/2006/main"/>
        </p:blipFill>
        <p:spPr>
          <a:xfrm xmlns:a="http://schemas.openxmlformats.org/drawingml/2006/main">
            <a:off x="6858000" y="2163204"/>
            <a:ext cx="4238625" cy="310309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3A820-AAB9-432E-A136-D45CDC71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64545"/>
                </a:solidFill>
              </a:defRPr>
            </a:pPr>
            <a:r>
              <a:rPr sz="2100" b="1">
                <a:solidFill>
                  <a:srgbClr val="D64545"/>
                </a:solidFill>
              </a:rPr>
              <a:t>错误循环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27157-DAF5-439D-AD42-D7D6FC82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5143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1B2D"/>
                </a:solidFill>
              </a:defRPr>
            </a:pPr>
            <a:r>
              <a:rPr sz="2325" b="1">
                <a:solidFill>
                  <a:srgbClr val="141B2D"/>
                </a:solidFill>
              </a:rPr>
              <a:t>需求不拆解</a:t>
            </a:r>
          </a:p>
          <a:p xmlns:a="http://schemas.openxmlformats.org/drawingml/2006/main">
            <a:pPr algn="l">
              <a:defRPr sz="2325" b="1">
                <a:solidFill>
                  <a:srgbClr val="141B2D"/>
                </a:solidFill>
              </a:defRPr>
            </a:pPr>
            <a:r>
              <a:rPr sz="2325" b="1">
                <a:solidFill>
                  <a:srgbClr val="141B2D"/>
                </a:solidFill>
              </a:rPr>
              <a:t>不思考架构</a:t>
            </a:r>
          </a:p>
          <a:p xmlns:a="http://schemas.openxmlformats.org/drawingml/2006/main">
            <a:pPr algn="l">
              <a:defRPr sz="2325" b="1">
                <a:solidFill>
                  <a:srgbClr val="141B2D"/>
                </a:solidFill>
              </a:defRPr>
            </a:pPr>
            <a:r>
              <a:rPr sz="2325" b="1">
                <a:solidFill>
                  <a:srgbClr val="141B2D"/>
                </a:solidFill>
              </a:rPr>
              <a:t>看不懂错误</a:t>
            </a:r>
          </a:p>
          <a:p xmlns:a="http://schemas.openxmlformats.org/drawingml/2006/main">
            <a:pPr algn="l">
              <a:defRPr sz="2325" b="1">
                <a:solidFill>
                  <a:srgbClr val="141B2D"/>
                </a:solidFill>
              </a:defRPr>
            </a:pPr>
            <a:r>
              <a:rPr sz="2325" b="1">
                <a:solidFill>
                  <a:srgbClr val="141B2D"/>
                </a:solidFill>
              </a:rPr>
              <a:t>日志、数据与安全都问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E16B1-B3CD-46C6-A52B-37C25189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542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06A18-3394-4354-AC53-EA9CEF53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B2D"/>
                </a:solidFill>
              </a:defRPr>
            </a:pPr>
            <a:r>
              <a:rPr sz="1725" b="1">
                <a:solidFill>
                  <a:srgbClr val="141B2D"/>
                </a:solidFill>
              </a:rPr>
              <a:t>AI 可以协助推理，但不能替你建立判断标准。</a:t>
            </a:r>
          </a:p>
        </p:txBody>
      </p:sp>
    </p:spTree>
    <p:extLst>
      <p:ext uri="{BB962C8B-B14F-4D97-AF65-F5344CB8AC3E}">
        <p14:creationId xmlns:p14="http://schemas.microsoft.com/office/powerpoint/2010/main" val="9276785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46A2F-2CED-489D-9084-7938351A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AI CODING 分享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4717E-16E0-43C2-988C-E4FB4B9C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B2D"/>
                </a:solidFill>
              </a:defRPr>
            </a:pPr>
            <a:r>
              <a:rPr sz="3000" b="1">
                <a:solidFill>
                  <a:srgbClr val="141B2D"/>
                </a:solidFill>
              </a:rPr>
              <a:t>AI 会加速程序员分层，而不是抹平差异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7BE2D-1604-4BC8-A2B6-6ABCF5EE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19FF0-B135-4D7A-96FA-C85A6059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C80"/>
                </a:solidFill>
              </a:defRPr>
            </a:pPr>
            <a:r>
              <a:rPr sz="1200" b="0">
                <a:solidFill>
                  <a:srgbClr val="5F6C80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80B23-9977-48ED-9ADE-8EB6F294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50958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52992-4C55-4693-A2AF-14D8FCD8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0958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12482-C7FD-4457-9A7C-2C39781B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936E"/>
                </a:solidFill>
              </a:defRPr>
            </a:pPr>
            <a:r>
              <a:rPr sz="2250" b="1">
                <a:solidFill>
                  <a:srgbClr val="24936E"/>
                </a:solidFill>
              </a:rPr>
              <a:t>强者：把 AI 当放大器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2DCDD-D794-4AEE-8E69-D93AA7C8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4238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• 用 AI 做脏活累活</a:t>
            </a:r>
          </a:p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• 懂架构，敢于重构</a:t>
            </a:r>
          </a:p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• 知道何时推倒重来</a:t>
            </a:r>
          </a:p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• 最终决策权在自己手里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8A4A5-77CF-405F-BD4E-70EB8919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4545"/>
                </a:solidFill>
              </a:defRPr>
            </a:pPr>
            <a:r>
              <a:rPr sz="2250" b="1">
                <a:solidFill>
                  <a:srgbClr val="D64545"/>
                </a:solidFill>
              </a:rPr>
              <a:t>弱者：把 AI 当遮羞布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A3047-9945-4BDB-9A80-7B26CE01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238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• 用 AI 掩盖未知</a:t>
            </a:r>
          </a:p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• 越用越依赖，越不会判断</a:t>
            </a:r>
          </a:p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• 迷信“生成速度”</a:t>
            </a:r>
          </a:p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• 出事时无法解释与修复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82520-A612-406C-ACDB-D039C2F1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B2D"/>
                </a:solidFill>
              </a:defRPr>
            </a:pPr>
            <a:r>
              <a:rPr sz="1875" b="1">
                <a:solidFill>
                  <a:srgbClr val="141B2D"/>
                </a:solidFill>
              </a:rPr>
              <a:t>未来最贵的程序员，不是写得最快的人，而是最敢删 AI 代码的人。</a:t>
            </a:r>
          </a:p>
        </p:txBody>
      </p:sp>
    </p:spTree>
    <p:extLst>
      <p:ext uri="{BB962C8B-B14F-4D97-AF65-F5344CB8AC3E}">
        <p14:creationId xmlns:p14="http://schemas.microsoft.com/office/powerpoint/2010/main" val="11817511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6C569-9DD9-42F8-92DF-F632DCA0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AI CODING 分享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7EB2C-55B3-416F-81CF-CEF2AD37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B2D"/>
                </a:solidFill>
              </a:defRPr>
            </a:pPr>
            <a:r>
              <a:rPr sz="3000" b="1">
                <a:solidFill>
                  <a:srgbClr val="141B2D"/>
                </a:solidFill>
              </a:rPr>
              <a:t>生产环境不是试玩：工具提效，责任仍在人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A06BB-7DF8-4D09-8D88-E3FD02CA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02071-AE77-47C9-B847-FC4FE5D5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C80"/>
                </a:solidFill>
              </a:defRPr>
            </a:pPr>
            <a:r>
              <a:rPr sz="1200" b="0">
                <a:solidFill>
                  <a:srgbClr val="5F6C80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AFBF3-CCF2-4146-BB10-910764A1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四条底线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41064-4853-4273-8356-403F47CC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4545"/>
                </a:solidFill>
              </a:defRPr>
            </a:pPr>
            <a:r>
              <a:rPr sz="1875" b="1">
                <a:solidFill>
                  <a:srgbClr val="D64545"/>
                </a:solidFill>
              </a:rPr>
              <a:t>责任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A41F0-F0CF-4CC5-B857-6C6DBF18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955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0C03A-6923-4B54-A41D-D5F783F7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193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B2D"/>
                </a:solidFill>
              </a:defRPr>
            </a:pPr>
            <a:r>
              <a:rPr sz="1725" b="1">
                <a:solidFill>
                  <a:srgbClr val="141B2D"/>
                </a:solidFill>
              </a:rPr>
              <a:t>严重事故时，人而非工具承担最终责任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CA367-500E-4954-B0A6-9B239857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B2D"/>
                </a:solidFill>
              </a:defRPr>
            </a:pPr>
            <a:r>
              <a:rPr sz="1875" b="1">
                <a:solidFill>
                  <a:srgbClr val="141B2D"/>
                </a:solidFill>
              </a:rPr>
              <a:t>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57124-E300-4FF6-99B1-B4C0475A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623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7CE54-5C25-4888-82FA-D1627E3A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861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B2D"/>
                </a:solidFill>
              </a:defRPr>
            </a:pPr>
            <a:r>
              <a:rPr sz="1725" b="1">
                <a:solidFill>
                  <a:srgbClr val="141B2D"/>
                </a:solidFill>
              </a:rPr>
              <a:t>人工复核、依赖审查、安全扫描不可省略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9FCB7-3AC5-4147-9531-5054681F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B2D"/>
                </a:solidFill>
              </a:defRPr>
            </a:pPr>
            <a:r>
              <a:rPr sz="1875" b="1">
                <a:solidFill>
                  <a:srgbClr val="141B2D"/>
                </a:solidFill>
              </a:rPr>
              <a:t>合规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0B140-716D-4A41-9E78-A4B1A140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290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F3A7D-50B0-4EB4-92DC-CD625BF4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528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B2D"/>
                </a:solidFill>
              </a:defRPr>
            </a:pPr>
            <a:r>
              <a:rPr sz="1725" b="1">
                <a:solidFill>
                  <a:srgbClr val="141B2D"/>
                </a:solidFill>
              </a:rPr>
              <a:t>核心代码涉及审计、数据和知识产权风险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379E8-34CC-4C72-9702-7D85DBD0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B2D"/>
                </a:solidFill>
              </a:defRPr>
            </a:pPr>
            <a:r>
              <a:rPr sz="1875" b="1">
                <a:solidFill>
                  <a:srgbClr val="141B2D"/>
                </a:solidFill>
              </a:rPr>
              <a:t>隐性知识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34EDD-6E9C-472F-80E8-E90F198D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958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686A9-FF86-4E49-8534-52E079C8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196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B2D"/>
                </a:solidFill>
              </a:defRPr>
            </a:pPr>
            <a:r>
              <a:rPr sz="1725" b="1">
                <a:solidFill>
                  <a:srgbClr val="141B2D"/>
                </a:solidFill>
              </a:rPr>
              <a:t>遗留系统与业务潜规则，AI 很难自行理解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F283A-3AB2-4D9B-91C0-66352456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DC997-95FC-4F31-AF02-8C03CAA4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530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把 AI 纳入工程流程，而不是绕过工程流程。</a:t>
            </a:r>
          </a:p>
        </p:txBody>
      </p:sp>
    </p:spTree>
    <p:extLst>
      <p:ext uri="{BB962C8B-B14F-4D97-AF65-F5344CB8AC3E}">
        <p14:creationId xmlns:p14="http://schemas.microsoft.com/office/powerpoint/2010/main" val="21074870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15E35-AB99-4696-8F28-33741298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AI CODING 分享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9C9B2-D90C-4DE5-81C0-5E1A4E85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B2D"/>
                </a:solidFill>
              </a:defRPr>
            </a:pPr>
            <a:r>
              <a:rPr sz="3000" b="1">
                <a:solidFill>
                  <a:srgbClr val="141B2D"/>
                </a:solidFill>
              </a:rPr>
              <a:t>别在水里扑腾，尽快往“高地”走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BF6B3-6FD6-4594-973A-42A270FE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33787-7043-46A4-B65F-C9C0584F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C80"/>
                </a:solidFill>
              </a:defRPr>
            </a:pPr>
            <a:r>
              <a:rPr sz="1200" b="0">
                <a:solidFill>
                  <a:srgbClr val="5F6C80"/>
                </a:solidFill>
              </a:rPr>
              <a:t>09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1655fc59e4beb"/>
          <a:stretch xmlns:a="http://schemas.openxmlformats.org/drawingml/2006/main"/>
        </p:blipFill>
        <p:spPr>
          <a:xfrm xmlns:a="http://schemas.openxmlformats.org/drawingml/2006/main">
            <a:off x="7000875" y="2599494"/>
            <a:ext cx="4143375" cy="232576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8F4AB-2DB0-409D-9B17-F95039F1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F6C80"/>
                </a:solidFill>
              </a:defRPr>
            </a:pPr>
            <a:r>
              <a:rPr sz="2175" b="1">
                <a:solidFill>
                  <a:srgbClr val="5F6C80"/>
                </a:solidFill>
              </a:rPr>
              <a:t>底层：容易被淹没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B438A-3BF2-415B-851A-F55D11F1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1B2D"/>
                </a:solidFill>
              </a:defRPr>
            </a:pPr>
            <a:r>
              <a:rPr sz="1950" b="1">
                <a:solidFill>
                  <a:srgbClr val="141B2D"/>
                </a:solidFill>
              </a:rPr>
              <a:t>提示词编写 / 语法拼接</a:t>
            </a:r>
          </a:p>
          <a:p xmlns:a="http://schemas.openxmlformats.org/drawingml/2006/main">
            <a:pPr algn="l">
              <a:defRPr sz="1950" b="1">
                <a:solidFill>
                  <a:srgbClr val="141B2D"/>
                </a:solidFill>
              </a:defRPr>
            </a:pPr>
            <a:r>
              <a:rPr sz="1950" b="1">
                <a:solidFill>
                  <a:srgbClr val="141B2D"/>
                </a:solidFill>
              </a:rPr>
              <a:t>工具熟练度 / Demo 制作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8E2DC-46C3-4475-BAFF-0ED512CC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47FBF-BA18-475B-A394-6B95DC03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936E"/>
                </a:solidFill>
              </a:defRPr>
            </a:pPr>
            <a:r>
              <a:rPr sz="2175" b="1">
                <a:solidFill>
                  <a:srgbClr val="24936E"/>
                </a:solidFill>
              </a:rPr>
              <a:t>高地：真正稀缺的价值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BF79E-2A6C-492F-A1CD-CD54F0F8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架构设计 / 业务逻辑</a:t>
            </a:r>
          </a:p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现场诊断 / 系统判断力</a:t>
            </a:r>
          </a:p>
        </p:txBody>
      </p:sp>
    </p:spTree>
    <p:extLst>
      <p:ext uri="{BB962C8B-B14F-4D97-AF65-F5344CB8AC3E}">
        <p14:creationId xmlns:p14="http://schemas.microsoft.com/office/powerpoint/2010/main" val="1670049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DD77D-A3D1-4F42-A1D2-086AC9EB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70705-E8E5-4141-9C86-6BD2F588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41B2D"/>
                </a:solidFill>
              </a:defRPr>
            </a:pPr>
            <a:r>
              <a:rPr sz="4350" b="1">
                <a:solidFill>
                  <a:srgbClr val="141B2D"/>
                </a:solidFill>
              </a:rPr>
              <a:t>AI Coding 是放大器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33620-6C0C-4752-8122-A779A38B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6C80"/>
                </a:solidFill>
              </a:defRPr>
            </a:pPr>
            <a:r>
              <a:rPr sz="2175" b="0">
                <a:solidFill>
                  <a:srgbClr val="5F6C80"/>
                </a:solidFill>
              </a:rPr>
              <a:t>它能放大强者的判断，也会放大缺乏判断者的无知。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54881-E28D-4813-9ACB-0F14583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2A5FD-056B-4952-9857-ABA492DD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今天就可以做的 3 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C0B3C-D760-4C46-B681-3205054F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981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01  让 AI 先给方案，再由你定义验收标准</a:t>
            </a:r>
          </a:p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02  每次生成后，追问：边界在哪里？风险在哪里？</a:t>
            </a:r>
          </a:p>
          <a:p xmlns:a="http://schemas.openxmlformats.org/drawingml/2006/main">
            <a:pPr algn="l">
              <a:defRPr sz="2025" b="1">
                <a:solidFill>
                  <a:srgbClr val="141B2D"/>
                </a:solidFill>
              </a:defRPr>
            </a:pPr>
            <a:r>
              <a:rPr sz="2025" b="1">
                <a:solidFill>
                  <a:srgbClr val="141B2D"/>
                </a:solidFill>
              </a:rPr>
              <a:t>03  为自己保留读代码、看日志和设计架构的肌肉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3F9C2-646B-45CD-9867-FF5C14E7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4545"/>
                </a:solidFill>
              </a:defRPr>
            </a:pPr>
            <a:r>
              <a:rPr sz="1800" b="1">
                <a:solidFill>
                  <a:srgbClr val="D64545"/>
                </a:solidFill>
              </a:rPr>
              <a:t>问题：你现在把 AI 用在第几层？</a:t>
            </a:r>
          </a:p>
        </p:txBody>
      </p:sp>
    </p:spTree>
    <p:extLst>
      <p:ext uri="{BB962C8B-B14F-4D97-AF65-F5344CB8AC3E}">
        <p14:creationId xmlns:p14="http://schemas.microsoft.com/office/powerpoint/2010/main" val="275122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2026-08-10T01:09:51.7640000Z</dcterms:created>
  <dcterms:modified xsi:type="dcterms:W3CDTF">2026-08-10T01:09:51.7640000Z</dcterms:modified>
</coreProperties>
</file>