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notesSlide" Target="../notesSlides/notesSlide8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09600" y="381000"/>
            <a:ext cx="685800" cy="57150"/>
          </a:xfrm>
          <a:prstGeom prst="rect">
            <a:avLst/>
          </a:prstGeom>
          <a:solidFill>
            <a:srgbClr val="FF6B35"/>
          </a:solidFill>
          <a:ln w="0">
            <a:solidFill>
              <a:srgbClr val="FF6B35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609600"/>
            <a:ext cx="533400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lnSpc>
                <a:spcPct val="100000"/>
              </a:lnSpc>
              <a:buNone/>
              <a:defRPr sz="4500" b="1">
                <a:solidFill>
                  <a:srgbClr val="111111"/>
                </a:solidFill>
              </a:defRPr>
            </a:pPr>
            <a:r>
              <a:rPr sz="4500" b="1">
                <a:solidFill>
                  <a:srgbClr val="111111"/>
                </a:solidFill>
              </a:rPr>
              <a:t>Claude Code</a:t>
            </a:r>
            <a:endParaRPr sz="4500" b="1">
              <a:solidFill>
                <a:srgbClr val="111111"/>
              </a:solidFill>
            </a:endParaRPr>
          </a:p>
          <a:p>
            <a:pPr>
              <a:lnSpc>
                <a:spcPct val="100000"/>
              </a:lnSpc>
              <a:buNone/>
              <a:defRPr sz="4500" b="1">
                <a:solidFill>
                  <a:srgbClr val="111111"/>
                </a:solidFill>
              </a:defRPr>
            </a:pPr>
            <a:r>
              <a:rPr sz="4500" b="1">
                <a:solidFill>
                  <a:srgbClr val="111111"/>
                </a:solidFill>
              </a:rPr>
              <a:t>记忆机制</a:t>
            </a:r>
            <a:endParaRPr sz="4500" b="1">
              <a:solidFill>
                <a:srgbClr val="111111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2667000"/>
            <a:ext cx="4953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8000"/>
              </a:lnSpc>
              <a:buNone/>
              <a:defRPr sz="1650">
                <a:solidFill>
                  <a:srgbClr val="555555"/>
                </a:solidFill>
              </a:defRPr>
            </a:pPr>
            <a:r>
              <a:rPr sz="2400">
                <a:solidFill>
                  <a:srgbClr val="555555"/>
                </a:solidFill>
              </a:rPr>
              <a:t>从源码思路到面试回答：agent 怎么记住用户、项目和规则</a:t>
            </a:r>
            <a:endParaRPr sz="2400">
              <a:solidFill>
                <a:srgbClr val="555555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58102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应用软件部组会分享</a:t>
            </a:r>
            <a:endParaRPr sz="1125" b="1">
              <a:solidFill>
                <a:srgbClr val="555555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9906000" y="581025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555555"/>
                </a:solidFill>
              </a:defRPr>
            </a:pPr>
            <a:r>
              <a:rPr sz="1050">
                <a:solidFill>
                  <a:srgbClr val="555555"/>
                </a:solidFill>
              </a:rPr>
              <a:t>2026-06-28</a:t>
            </a:r>
            <a:endParaRPr sz="1050">
              <a:solidFill>
                <a:srgbClr val="555555"/>
              </a:solidFill>
            </a:endParaRPr>
          </a:p>
        </p:txBody>
      </p:sp>
      <p:pic>
        <p:nvPicPr>
          <p:cNvPr id="13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05500" y="1748145"/>
            <a:ext cx="5905500" cy="332361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304405" y="80200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-</a:t>
            </a:r>
            <a:r>
              <a:rPr lang="zh-CN" altLang="en-US"/>
              <a:t>原文见</a:t>
            </a:r>
            <a:r>
              <a:rPr lang="en-US" altLang="zh-CN"/>
              <a:t>“</a:t>
            </a:r>
            <a:r>
              <a:rPr lang="zh-CN" altLang="en-US"/>
              <a:t>小林</a:t>
            </a:r>
            <a:r>
              <a:rPr lang="en-US" altLang="zh-CN"/>
              <a:t>Coding”</a:t>
            </a:r>
            <a:r>
              <a:rPr lang="zh-CN" altLang="en-US"/>
              <a:t>公众号</a:t>
            </a:r>
            <a:r>
              <a:rPr lang="en-US" altLang="zh-CN"/>
              <a:t>-2026.06.02</a:t>
            </a:r>
            <a:endParaRPr lang="en-US"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09600" y="457200"/>
            <a:ext cx="876300" cy="57150"/>
          </a:xfrm>
          <a:prstGeom prst="rect">
            <a:avLst/>
          </a:prstGeom>
          <a:solidFill>
            <a:srgbClr val="FF6B35"/>
          </a:solidFill>
          <a:ln w="0">
            <a:solidFill>
              <a:srgbClr val="FF6B35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666750"/>
            <a:ext cx="72390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lnSpc>
                <a:spcPct val="105000"/>
              </a:lnSpc>
              <a:buNone/>
              <a:defRPr sz="4200" b="1">
                <a:solidFill>
                  <a:srgbClr val="111111"/>
                </a:solidFill>
              </a:defRPr>
            </a:pPr>
            <a:r>
              <a:rPr sz="4200" b="1">
                <a:solidFill>
                  <a:srgbClr val="111111"/>
                </a:solidFill>
              </a:rPr>
              <a:t>先想清楚：LLM 本身没有记忆</a:t>
            </a:r>
            <a:endParaRPr sz="4200" b="1">
              <a:solidFill>
                <a:srgbClr val="111111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557020"/>
            <a:ext cx="4877435" cy="41084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lnSpc>
                <a:spcPct val="118000"/>
              </a:lnSpc>
              <a:buNone/>
              <a:defRPr sz="1500">
                <a:solidFill>
                  <a:srgbClr val="555555"/>
                </a:solidFill>
              </a:defRPr>
            </a:pPr>
            <a:r>
              <a:rPr sz="1500">
                <a:solidFill>
                  <a:srgbClr val="555555"/>
                </a:solidFill>
              </a:rPr>
              <a:t>每次回车，模型都只是“重新看一遍上下文”。</a:t>
            </a:r>
            <a:endParaRPr sz="1500">
              <a:solidFill>
                <a:srgbClr val="555555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430000" y="6477000"/>
            <a:ext cx="419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555555"/>
                </a:solidFill>
              </a:defRPr>
            </a:pPr>
            <a:r>
              <a:rPr sz="1050">
                <a:solidFill>
                  <a:srgbClr val="555555"/>
                </a:solidFill>
              </a:rPr>
              <a:t>02</a:t>
            </a:r>
            <a:endParaRPr sz="1050">
              <a:solidFill>
                <a:srgbClr val="555555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1988820"/>
            <a:ext cx="4953000" cy="819150"/>
          </a:xfrm>
          <a:prstGeom prst="rect">
            <a:avLst/>
          </a:prstGeom>
          <a:solidFill>
            <a:srgbClr val="F2F2F2"/>
          </a:solidFill>
          <a:ln w="9525">
            <a:solidFill>
              <a:srgbClr val="D5D7DB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800100" y="2141220"/>
            <a:ext cx="457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2000"/>
              </a:lnSpc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系统提示词 + 历史对话 + 当前问题</a:t>
            </a:r>
            <a:endParaRPr sz="1650" b="1">
              <a:solidFill>
                <a:srgbClr val="111111"/>
              </a:solidFill>
            </a:endParaRPr>
          </a:p>
          <a:p>
            <a:pPr algn="ctr">
              <a:lnSpc>
                <a:spcPct val="112000"/>
              </a:lnSpc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一起塞进上下文窗口</a:t>
            </a:r>
            <a:endParaRPr sz="1650" b="1">
              <a:solidFill>
                <a:srgbClr val="111111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09600" y="3019425"/>
            <a:ext cx="209550" cy="38100"/>
          </a:xfrm>
          <a:prstGeom prst="rect">
            <a:avLst/>
          </a:prstGeom>
          <a:solidFill>
            <a:srgbClr val="FF6B35"/>
          </a:solidFill>
          <a:ln w="0">
            <a:solidFill>
              <a:srgbClr val="FF6B35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914400" y="293370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客户端负责“带回历史”</a:t>
            </a:r>
            <a:endParaRPr sz="1650" b="1">
              <a:solidFill>
                <a:srgbClr val="111111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914400" y="3200400"/>
            <a:ext cx="4762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lnSpc>
                <a:spcPct val="118000"/>
              </a:lnSpc>
              <a:buNone/>
              <a:defRPr sz="1350">
                <a:solidFill>
                  <a:srgbClr val="555555"/>
                </a:solidFill>
              </a:defRPr>
            </a:pPr>
            <a:r>
              <a:rPr sz="1350">
                <a:solidFill>
                  <a:srgbClr val="555555"/>
                </a:solidFill>
              </a:rPr>
              <a:t>不是模型自己记住了，而是前端 / 客户端把历史消息重新发给它。</a:t>
            </a:r>
            <a:endParaRPr sz="1350">
              <a:solidFill>
                <a:srgbClr val="555555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09600" y="4067175"/>
            <a:ext cx="209550" cy="38100"/>
          </a:xfrm>
          <a:prstGeom prst="rect">
            <a:avLst/>
          </a:prstGeom>
          <a:solidFill>
            <a:srgbClr val="FF6B35"/>
          </a:solidFill>
          <a:ln w="0">
            <a:solidFill>
              <a:srgbClr val="FF6B35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914400" y="39814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聊天可以凑合，agent 不行</a:t>
            </a:r>
            <a:endParaRPr sz="1650" b="1">
              <a:solidFill>
                <a:srgbClr val="111111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914400" y="4248150"/>
            <a:ext cx="4762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lnSpc>
                <a:spcPct val="118000"/>
              </a:lnSpc>
              <a:buNone/>
              <a:defRPr sz="1350">
                <a:solidFill>
                  <a:srgbClr val="555555"/>
                </a:solidFill>
              </a:defRPr>
            </a:pPr>
            <a:r>
              <a:rPr sz="1350">
                <a:solidFill>
                  <a:srgbClr val="555555"/>
                </a:solidFill>
              </a:rPr>
              <a:t>对话几十轮还能撑住；工具调用、文件读取、API 循环一多就会爆窗口。</a:t>
            </a:r>
            <a:endParaRPr sz="1350">
              <a:solidFill>
                <a:srgbClr val="555555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09600" y="5114925"/>
            <a:ext cx="209550" cy="38100"/>
          </a:xfrm>
          <a:prstGeom prst="rect">
            <a:avLst/>
          </a:prstGeom>
          <a:solidFill>
            <a:srgbClr val="FF6B35"/>
          </a:solidFill>
          <a:ln w="0">
            <a:solidFill>
              <a:srgbClr val="FF6B35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914400" y="502920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长期状态才是重点</a:t>
            </a:r>
            <a:endParaRPr sz="1650" b="1">
              <a:solidFill>
                <a:srgbClr val="111111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914400" y="5295900"/>
            <a:ext cx="4762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lnSpc>
                <a:spcPct val="118000"/>
              </a:lnSpc>
              <a:buNone/>
              <a:defRPr sz="1350">
                <a:solidFill>
                  <a:srgbClr val="555555"/>
                </a:solidFill>
              </a:defRPr>
            </a:pPr>
            <a:r>
              <a:rPr sz="1350">
                <a:solidFill>
                  <a:srgbClr val="555555"/>
                </a:solidFill>
              </a:rPr>
              <a:t>agent 真正要记的是用户画像、行为偏好、项目动态和外部指针。</a:t>
            </a:r>
            <a:endParaRPr sz="1350">
              <a:solidFill>
                <a:srgbClr val="555555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096000" y="1619250"/>
            <a:ext cx="5334000" cy="4286250"/>
          </a:xfrm>
          <a:prstGeom prst="rect">
            <a:avLst/>
          </a:prstGeom>
          <a:solidFill>
            <a:srgbClr val="FFFFFF"/>
          </a:solidFill>
          <a:ln w="9525">
            <a:solidFill>
              <a:srgbClr val="D5D7DB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6362700" y="1866900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一句话</a:t>
            </a:r>
            <a:endParaRPr sz="1350" b="1">
              <a:solidFill>
                <a:srgbClr val="FF6B35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362700" y="2133600"/>
            <a:ext cx="47625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lnSpc>
                <a:spcPct val="112000"/>
              </a:lnSpc>
              <a:buNone/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LLM 不是存储器，</a:t>
            </a:r>
            <a:endParaRPr sz="2250" b="1">
              <a:solidFill>
                <a:srgbClr val="111111"/>
              </a:solidFill>
            </a:endParaRPr>
          </a:p>
          <a:p>
            <a:pPr>
              <a:lnSpc>
                <a:spcPct val="112000"/>
              </a:lnSpc>
              <a:buNone/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记忆是“客户端帮它不断重建的上下文”。</a:t>
            </a:r>
            <a:endParaRPr sz="2250" b="1">
              <a:solidFill>
                <a:srgbClr val="111111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362700" y="3733800"/>
            <a:ext cx="476250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6000"/>
              </a:lnSpc>
              <a:buNone/>
              <a:defRPr sz="1650">
                <a:solidFill>
                  <a:srgbClr val="555555"/>
                </a:solidFill>
              </a:defRPr>
            </a:pPr>
            <a:r>
              <a:rPr sz="1650">
                <a:solidFill>
                  <a:srgbClr val="555555"/>
                </a:solidFill>
              </a:rPr>
              <a:t>所以</a:t>
            </a:r>
            <a:r>
              <a:rPr sz="1650">
                <a:solidFill>
                  <a:srgbClr val="555555"/>
                </a:solidFill>
              </a:rPr>
              <a:t>记忆机制真正要解决的，不只是把信息存起来，而是把长期保存的内容，在合适的时候挑出来，塞进这次上下文里，让 </a:t>
            </a:r>
            <a:r>
              <a:rPr sz="1650">
                <a:solidFill>
                  <a:srgbClr val="555555"/>
                </a:solidFill>
              </a:rPr>
              <a:t>agent </a:t>
            </a:r>
            <a:r>
              <a:rPr sz="1650">
                <a:solidFill>
                  <a:srgbClr val="555555"/>
                </a:solidFill>
              </a:rPr>
              <a:t>知道该看什么、该信什么、该忽略什么。</a:t>
            </a:r>
            <a:endParaRPr sz="1650">
              <a:solidFill>
                <a:srgbClr val="555555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456045" y="5153025"/>
            <a:ext cx="4762500" cy="45656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555555"/>
                </a:solidFill>
              </a:defRPr>
            </a:pPr>
            <a:r>
              <a:rPr sz="1600" b="1">
                <a:solidFill>
                  <a:srgbClr val="555555"/>
                </a:solidFill>
              </a:rPr>
              <a:t>这就是 agent 记忆和聊天记忆的分水岭</a:t>
            </a:r>
            <a:r>
              <a:rPr sz="1200" b="1">
                <a:solidFill>
                  <a:srgbClr val="555555"/>
                </a:solidFill>
              </a:rPr>
              <a:t>。</a:t>
            </a:r>
            <a:endParaRPr sz="1200" b="1">
              <a:solidFill>
                <a:srgbClr val="555555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09600" y="457200"/>
            <a:ext cx="876300" cy="57150"/>
          </a:xfrm>
          <a:prstGeom prst="rect">
            <a:avLst/>
          </a:prstGeom>
          <a:solidFill>
            <a:srgbClr val="FF6B35"/>
          </a:solidFill>
          <a:ln w="0">
            <a:solidFill>
              <a:srgbClr val="FF6B35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666750"/>
            <a:ext cx="11058525" cy="10680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lnSpc>
                <a:spcPct val="105000"/>
              </a:lnSpc>
              <a:buNone/>
              <a:defRPr sz="4200" b="1">
                <a:solidFill>
                  <a:srgbClr val="111111"/>
                </a:solidFill>
              </a:defRPr>
            </a:pPr>
            <a:r>
              <a:rPr sz="4200" b="1">
                <a:solidFill>
                  <a:srgbClr val="111111"/>
                </a:solidFill>
              </a:rPr>
              <a:t>记忆不是“对话历史”，而是“可复用状态”</a:t>
            </a:r>
            <a:endParaRPr sz="4200" b="1">
              <a:solidFill>
                <a:srgbClr val="111111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67080" y="1361440"/>
            <a:ext cx="3864610" cy="355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lnSpc>
                <a:spcPct val="118000"/>
              </a:lnSpc>
              <a:buNone/>
              <a:defRPr sz="1500">
                <a:solidFill>
                  <a:srgbClr val="555555"/>
                </a:solidFill>
              </a:defRPr>
            </a:pPr>
            <a:r>
              <a:rPr sz="1500">
                <a:solidFill>
                  <a:srgbClr val="555555"/>
                </a:solidFill>
              </a:rPr>
              <a:t>短期记忆管继续聊，长期记忆管继续干活。</a:t>
            </a:r>
            <a:endParaRPr sz="1500">
              <a:solidFill>
                <a:srgbClr val="555555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430000" y="6477000"/>
            <a:ext cx="419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555555"/>
                </a:solidFill>
              </a:defRPr>
            </a:pPr>
            <a:r>
              <a:rPr sz="1050">
                <a:solidFill>
                  <a:srgbClr val="555555"/>
                </a:solidFill>
              </a:rPr>
              <a:t>03</a:t>
            </a:r>
            <a:endParaRPr sz="1050">
              <a:solidFill>
                <a:srgbClr val="555555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4520" y="1772920"/>
            <a:ext cx="4762500" cy="1657350"/>
          </a:xfrm>
          <a:prstGeom prst="rect">
            <a:avLst/>
          </a:prstGeom>
          <a:solidFill>
            <a:srgbClr val="F2F2F2"/>
          </a:solidFill>
          <a:ln w="9525">
            <a:solidFill>
              <a:srgbClr val="D5D7DB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819150" y="1885950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短期记忆</a:t>
            </a:r>
            <a:endParaRPr sz="1950" b="1">
              <a:solidFill>
                <a:srgbClr val="111111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19150" y="2247900"/>
            <a:ext cx="40957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lnSpc>
                <a:spcPct val="122000"/>
              </a:lnSpc>
              <a:buNone/>
              <a:defRPr sz="1650">
                <a:solidFill>
                  <a:srgbClr val="555555"/>
                </a:solidFill>
              </a:defRPr>
            </a:pPr>
            <a:r>
              <a:rPr sz="1650">
                <a:solidFill>
                  <a:srgbClr val="555555"/>
                </a:solidFill>
              </a:rPr>
              <a:t>当前轮上下文</a:t>
            </a:r>
            <a:endParaRPr sz="1650">
              <a:solidFill>
                <a:srgbClr val="555555"/>
              </a:solidFill>
            </a:endParaRPr>
          </a:p>
          <a:p>
            <a:pPr>
              <a:lnSpc>
                <a:spcPct val="122000"/>
              </a:lnSpc>
              <a:buNone/>
              <a:defRPr sz="1650">
                <a:solidFill>
                  <a:srgbClr val="555555"/>
                </a:solidFill>
              </a:defRPr>
            </a:pPr>
            <a:r>
              <a:rPr sz="1650">
                <a:solidFill>
                  <a:srgbClr val="555555"/>
                </a:solidFill>
              </a:rPr>
              <a:t>窗口快满就压缩</a:t>
            </a:r>
            <a:endParaRPr sz="1650">
              <a:solidFill>
                <a:srgbClr val="555555"/>
              </a:solidFill>
            </a:endParaRPr>
          </a:p>
          <a:p>
            <a:pPr>
              <a:lnSpc>
                <a:spcPct val="122000"/>
              </a:lnSpc>
              <a:buNone/>
              <a:defRPr sz="1650">
                <a:solidFill>
                  <a:srgbClr val="555555"/>
                </a:solidFill>
              </a:defRPr>
            </a:pPr>
            <a:r>
              <a:rPr sz="1650">
                <a:solidFill>
                  <a:srgbClr val="555555"/>
                </a:solidFill>
              </a:rPr>
              <a:t>解决的是“继续聊”</a:t>
            </a:r>
            <a:endParaRPr sz="1650">
              <a:solidFill>
                <a:srgbClr val="555555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09600" y="3638550"/>
            <a:ext cx="4762500" cy="2286000"/>
          </a:xfrm>
          <a:prstGeom prst="rect">
            <a:avLst/>
          </a:prstGeom>
          <a:solidFill>
            <a:srgbClr val="FAFAFA"/>
          </a:solidFill>
          <a:ln w="9525">
            <a:solidFill>
              <a:srgbClr val="D5D7DB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19150" y="3810000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长期记忆</a:t>
            </a:r>
            <a:endParaRPr sz="1950" b="1">
              <a:solidFill>
                <a:srgbClr val="111111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19150" y="4171950"/>
            <a:ext cx="4095750" cy="15519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lnSpc>
                <a:spcPct val="122000"/>
              </a:lnSpc>
              <a:buNone/>
              <a:defRPr sz="1650">
                <a:solidFill>
                  <a:srgbClr val="555555"/>
                </a:solidFill>
              </a:defRPr>
            </a:pPr>
            <a:r>
              <a:rPr sz="1650">
                <a:solidFill>
                  <a:srgbClr val="555555"/>
                </a:solidFill>
              </a:rPr>
              <a:t>用户画像</a:t>
            </a:r>
            <a:endParaRPr sz="1650">
              <a:solidFill>
                <a:srgbClr val="555555"/>
              </a:solidFill>
            </a:endParaRPr>
          </a:p>
          <a:p>
            <a:pPr>
              <a:lnSpc>
                <a:spcPct val="122000"/>
              </a:lnSpc>
              <a:buNone/>
              <a:defRPr sz="1650">
                <a:solidFill>
                  <a:srgbClr val="555555"/>
                </a:solidFill>
              </a:defRPr>
            </a:pPr>
            <a:r>
              <a:rPr sz="1650">
                <a:solidFill>
                  <a:srgbClr val="555555"/>
                </a:solidFill>
              </a:rPr>
              <a:t>行为偏好</a:t>
            </a:r>
            <a:endParaRPr sz="1650">
              <a:solidFill>
                <a:srgbClr val="555555"/>
              </a:solidFill>
            </a:endParaRPr>
          </a:p>
          <a:p>
            <a:pPr>
              <a:lnSpc>
                <a:spcPct val="122000"/>
              </a:lnSpc>
              <a:buNone/>
              <a:defRPr sz="1650">
                <a:solidFill>
                  <a:srgbClr val="555555"/>
                </a:solidFill>
              </a:defRPr>
            </a:pPr>
            <a:r>
              <a:rPr sz="1650">
                <a:solidFill>
                  <a:srgbClr val="555555"/>
                </a:solidFill>
              </a:rPr>
              <a:t>项目动态</a:t>
            </a:r>
            <a:endParaRPr sz="1650">
              <a:solidFill>
                <a:srgbClr val="555555"/>
              </a:solidFill>
            </a:endParaRPr>
          </a:p>
          <a:p>
            <a:pPr>
              <a:lnSpc>
                <a:spcPct val="122000"/>
              </a:lnSpc>
              <a:buNone/>
              <a:defRPr sz="1650">
                <a:solidFill>
                  <a:srgbClr val="555555"/>
                </a:solidFill>
              </a:defRPr>
            </a:pPr>
            <a:r>
              <a:rPr sz="1650">
                <a:solidFill>
                  <a:srgbClr val="555555"/>
                </a:solidFill>
              </a:rPr>
              <a:t>外部指针</a:t>
            </a:r>
            <a:endParaRPr sz="1650">
              <a:solidFill>
                <a:srgbClr val="555555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19150" y="5445125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跨会话活下来，才叫真正的“记住”。</a:t>
            </a:r>
            <a:endParaRPr sz="1200" b="1">
              <a:solidFill>
                <a:srgbClr val="FF6B35"/>
              </a:solidFill>
            </a:endParaRPr>
          </a:p>
        </p:txBody>
      </p:sp>
      <p:pic>
        <p:nvPicPr>
          <p:cNvPr id="26" name="图片 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1250" y="2309015"/>
            <a:ext cx="5334000" cy="3001970"/>
          </a:xfrm>
          <a:prstGeom prst="rect">
            <a:avLst/>
          </a:prstGeom>
        </p:spPr>
      </p:pic>
      <p:sp>
        <p:nvSpPr>
          <p:cNvPr id="13" name="矩形 12"/>
          <p:cNvSpPr>
            <a:spLocks noGrp="1"/>
          </p:cNvSpPr>
          <p:nvPr/>
        </p:nvSpPr>
        <p:spPr>
          <a:xfrm>
            <a:off x="7334250" y="58102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文件柜式长期记忆：结构化、可索引、可更新。</a:t>
            </a:r>
            <a:endParaRPr sz="1125" b="1">
              <a:solidFill>
                <a:srgbClr val="555555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09600" y="457200"/>
            <a:ext cx="876300" cy="57150"/>
          </a:xfrm>
          <a:prstGeom prst="rect">
            <a:avLst/>
          </a:prstGeom>
          <a:solidFill>
            <a:srgbClr val="FF6B35"/>
          </a:solidFill>
          <a:ln w="0">
            <a:solidFill>
              <a:srgbClr val="FF6B35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666750"/>
            <a:ext cx="72390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lnSpc>
                <a:spcPct val="105000"/>
              </a:lnSpc>
              <a:buNone/>
              <a:defRPr sz="4200" b="1">
                <a:solidFill>
                  <a:srgbClr val="111111"/>
                </a:solidFill>
              </a:defRPr>
            </a:pPr>
            <a:r>
              <a:rPr sz="4200" b="1">
                <a:solidFill>
                  <a:srgbClr val="111111"/>
                </a:solidFill>
              </a:rPr>
              <a:t>主流方案为什么都</a:t>
            </a:r>
            <a:r>
              <a:rPr sz="4200" b="1">
                <a:solidFill>
                  <a:srgbClr val="111111"/>
                </a:solidFill>
              </a:rPr>
              <a:t>不够</a:t>
            </a:r>
            <a:r>
              <a:rPr sz="4200" b="1">
                <a:solidFill>
                  <a:srgbClr val="111111"/>
                </a:solidFill>
              </a:rPr>
              <a:t>看</a:t>
            </a:r>
            <a:endParaRPr sz="4200" b="1">
              <a:solidFill>
                <a:srgbClr val="111111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412875"/>
            <a:ext cx="5116830" cy="3060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lnSpc>
                <a:spcPct val="118000"/>
              </a:lnSpc>
              <a:buNone/>
              <a:defRPr sz="1500">
                <a:solidFill>
                  <a:srgbClr val="555555"/>
                </a:solidFill>
              </a:defRPr>
            </a:pPr>
            <a:r>
              <a:rPr sz="1500">
                <a:solidFill>
                  <a:srgbClr val="555555"/>
                </a:solidFill>
              </a:rPr>
              <a:t>看上去都合理，真上手就会露短板。</a:t>
            </a:r>
            <a:endParaRPr sz="1500">
              <a:solidFill>
                <a:srgbClr val="555555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430000" y="6477000"/>
            <a:ext cx="419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555555"/>
                </a:solidFill>
              </a:defRPr>
            </a:pPr>
            <a:r>
              <a:rPr sz="1050">
                <a:solidFill>
                  <a:srgbClr val="555555"/>
                </a:solidFill>
              </a:rPr>
              <a:t>04</a:t>
            </a:r>
            <a:endParaRPr sz="1050">
              <a:solidFill>
                <a:srgbClr val="555555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1714500"/>
            <a:ext cx="10477500" cy="495300"/>
          </a:xfrm>
          <a:prstGeom prst="rect">
            <a:avLst/>
          </a:prstGeom>
          <a:solidFill>
            <a:srgbClr val="F2F2F2"/>
          </a:solidFill>
          <a:ln w="9525">
            <a:solidFill>
              <a:srgbClr val="D5D7DB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762000" y="1828800"/>
            <a:ext cx="1409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方案</a:t>
            </a:r>
            <a:endParaRPr sz="1350" b="1">
              <a:solidFill>
                <a:srgbClr val="111111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2476500" y="1828800"/>
            <a:ext cx="2933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能做什么</a:t>
            </a:r>
            <a:endParaRPr sz="1350" b="1">
              <a:solidFill>
                <a:srgbClr val="111111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715000" y="1828800"/>
            <a:ext cx="2647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卡在哪</a:t>
            </a:r>
            <a:endParaRPr sz="1350" b="1">
              <a:solidFill>
                <a:srgbClr val="111111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667750" y="1828800"/>
            <a:ext cx="2266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适合什么</a:t>
            </a:r>
            <a:endParaRPr sz="1350" b="1">
              <a:solidFill>
                <a:srgbClr val="111111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09600" y="2209800"/>
            <a:ext cx="10477500" cy="857250"/>
          </a:xfrm>
          <a:prstGeom prst="rect">
            <a:avLst/>
          </a:prstGeom>
          <a:solidFill>
            <a:srgbClr val="FFFFFF"/>
          </a:solidFill>
          <a:ln w="9525">
            <a:solidFill>
              <a:srgbClr val="D5D7DB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762000" y="2362200"/>
            <a:ext cx="14097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滑动窗口</a:t>
            </a:r>
            <a:endParaRPr sz="1350" b="1">
              <a:solidFill>
                <a:srgbClr val="111111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476500" y="2362200"/>
            <a:ext cx="29337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保留最近 N 轮</a:t>
            </a:r>
            <a:endParaRPr sz="1350" b="0">
              <a:solidFill>
                <a:srgbClr val="555555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5715000" y="2362200"/>
            <a:ext cx="26479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容易丢掉关键事实</a:t>
            </a:r>
            <a:endParaRPr sz="1350" b="0">
              <a:solidFill>
                <a:srgbClr val="555555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667750" y="2362200"/>
            <a:ext cx="22669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短会话</a:t>
            </a:r>
            <a:endParaRPr sz="1350" b="0">
              <a:solidFill>
                <a:srgbClr val="555555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09600" y="3067050"/>
            <a:ext cx="10477500" cy="857250"/>
          </a:xfrm>
          <a:prstGeom prst="rect">
            <a:avLst/>
          </a:prstGeom>
          <a:solidFill>
            <a:srgbClr val="FBFBFB"/>
          </a:solidFill>
          <a:ln w="9525">
            <a:solidFill>
              <a:srgbClr val="D5D7DB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762000" y="3219450"/>
            <a:ext cx="14097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对话摘要</a:t>
            </a:r>
            <a:endParaRPr sz="1350" b="1">
              <a:solidFill>
                <a:srgbClr val="111111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2476500" y="3219450"/>
            <a:ext cx="29337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压缩历史</a:t>
            </a:r>
            <a:endParaRPr sz="1350" b="0">
              <a:solidFill>
                <a:srgbClr val="555555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5715000" y="3219450"/>
            <a:ext cx="26479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信息会被抽象变形</a:t>
            </a:r>
            <a:r>
              <a:rPr sz="1350" b="0">
                <a:solidFill>
                  <a:srgbClr val="555555"/>
                </a:solidFill>
              </a:rPr>
              <a:t>，</a:t>
            </a:r>
            <a:r>
              <a:rPr sz="1350" b="0">
                <a:solidFill>
                  <a:srgbClr val="555555"/>
                </a:solidFill>
              </a:rPr>
              <a:t>且每一次摘要都会消耗</a:t>
            </a:r>
            <a:r>
              <a:rPr sz="1350" b="0">
                <a:solidFill>
                  <a:srgbClr val="555555"/>
                </a:solidFill>
              </a:rPr>
              <a:t> </a:t>
            </a:r>
            <a:r>
              <a:rPr sz="1350" b="0">
                <a:solidFill>
                  <a:srgbClr val="555555"/>
                </a:solidFill>
              </a:rPr>
              <a:t>token</a:t>
            </a:r>
            <a:endParaRPr sz="1350" b="0">
              <a:solidFill>
                <a:srgbClr val="555555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667750" y="3219450"/>
            <a:ext cx="22669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粗粒度回顾</a:t>
            </a:r>
            <a:endParaRPr sz="1350" b="0">
              <a:solidFill>
                <a:srgbClr val="555555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09600" y="3924300"/>
            <a:ext cx="10477500" cy="857250"/>
          </a:xfrm>
          <a:prstGeom prst="rect">
            <a:avLst/>
          </a:prstGeom>
          <a:solidFill>
            <a:srgbClr val="FFFFFF"/>
          </a:solidFill>
          <a:ln w="9525">
            <a:solidFill>
              <a:srgbClr val="D5D7DB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762000" y="4076700"/>
            <a:ext cx="14097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向量检索</a:t>
            </a:r>
            <a:endParaRPr sz="1350" b="1">
              <a:solidFill>
                <a:srgbClr val="111111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2476500" y="4076700"/>
            <a:ext cx="29337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按相似度召回</a:t>
            </a:r>
            <a:endParaRPr sz="1350" b="0">
              <a:solidFill>
                <a:srgbClr val="555555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715000" y="4076700"/>
            <a:ext cx="26479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阈值难定，召回不稳</a:t>
            </a:r>
            <a:r>
              <a:rPr sz="1350" b="0">
                <a:solidFill>
                  <a:srgbClr val="555555"/>
                </a:solidFill>
              </a:rPr>
              <a:t>，且相似不等于相关，存的浮点数用户</a:t>
            </a:r>
            <a:r>
              <a:rPr sz="1350" b="0">
                <a:solidFill>
                  <a:srgbClr val="555555"/>
                </a:solidFill>
              </a:rPr>
              <a:t>没法看</a:t>
            </a:r>
            <a:endParaRPr sz="1350" b="0">
              <a:solidFill>
                <a:srgbClr val="555555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667750" y="4076700"/>
            <a:ext cx="22669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海量文本</a:t>
            </a:r>
            <a:endParaRPr sz="1350" b="0">
              <a:solidFill>
                <a:srgbClr val="555555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09600" y="4781550"/>
            <a:ext cx="10477500" cy="857250"/>
          </a:xfrm>
          <a:prstGeom prst="rect">
            <a:avLst/>
          </a:prstGeom>
          <a:solidFill>
            <a:srgbClr val="FBFBFB"/>
          </a:solidFill>
          <a:ln w="9525">
            <a:solidFill>
              <a:srgbClr val="D5D7DB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762000" y="4933950"/>
            <a:ext cx="14097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分层存储</a:t>
            </a:r>
            <a:endParaRPr sz="1350" b="1">
              <a:solidFill>
                <a:srgbClr val="111111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2476500" y="4933950"/>
            <a:ext cx="29337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热 / 冷 分开</a:t>
            </a:r>
            <a:r>
              <a:rPr sz="1350" b="0">
                <a:solidFill>
                  <a:srgbClr val="555555"/>
                </a:solidFill>
              </a:rPr>
              <a:t>（</a:t>
            </a:r>
            <a:r>
              <a:rPr sz="1350" b="0">
                <a:solidFill>
                  <a:srgbClr val="555555"/>
                </a:solidFill>
              </a:rPr>
              <a:t>核心常驻，按需召回，长期归档）</a:t>
            </a:r>
            <a:endParaRPr sz="1350" b="0">
              <a:solidFill>
                <a:srgbClr val="555555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5715000" y="4933950"/>
            <a:ext cx="26479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自由文本仍然杂乱</a:t>
            </a:r>
            <a:endParaRPr sz="1350" b="0">
              <a:solidFill>
                <a:srgbClr val="555555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8667750" y="4933950"/>
            <a:ext cx="22669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归档场景</a:t>
            </a:r>
            <a:endParaRPr sz="1350" b="0">
              <a:solidFill>
                <a:srgbClr val="555555"/>
              </a:solidFill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609600" y="5638800"/>
            <a:ext cx="10972800" cy="756285"/>
          </a:xfrm>
          <a:prstGeom prst="rect">
            <a:avLst/>
          </a:prstGeom>
          <a:solidFill>
            <a:srgbClr val="F2F2F2"/>
          </a:solidFill>
          <a:ln w="9525">
            <a:solidFill>
              <a:srgbClr val="FF6B35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838200" y="5781675"/>
            <a:ext cx="1047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共同病根：自由文本</a:t>
            </a:r>
            <a:r>
              <a:rPr sz="1650" b="1">
                <a:solidFill>
                  <a:srgbClr val="111111"/>
                </a:solidFill>
              </a:rPr>
              <a:t>无约束（存什么、不存什么没有规则）</a:t>
            </a:r>
            <a:r>
              <a:rPr sz="1650" b="1">
                <a:solidFill>
                  <a:srgbClr val="111111"/>
                </a:solidFill>
              </a:rPr>
              <a:t>、</a:t>
            </a:r>
            <a:r>
              <a:rPr sz="1650" b="1">
                <a:solidFill>
                  <a:srgbClr val="111111"/>
                </a:solidFill>
              </a:rPr>
              <a:t>不区分类型、</a:t>
            </a:r>
            <a:r>
              <a:rPr sz="1650" b="1">
                <a:solidFill>
                  <a:srgbClr val="111111"/>
                </a:solidFill>
              </a:rPr>
              <a:t>没有老化机制、重检索轻写入</a:t>
            </a:r>
            <a:r>
              <a:rPr sz="1650" b="1">
                <a:solidFill>
                  <a:srgbClr val="111111"/>
                </a:solidFill>
              </a:rPr>
              <a:t>（重点都在如何查到，但是该存什么、不该存什么没有</a:t>
            </a:r>
            <a:r>
              <a:rPr sz="1650" b="1">
                <a:solidFill>
                  <a:srgbClr val="111111"/>
                </a:solidFill>
              </a:rPr>
              <a:t>解决）</a:t>
            </a:r>
            <a:r>
              <a:rPr sz="1650" b="1">
                <a:solidFill>
                  <a:srgbClr val="111111"/>
                </a:solidFill>
              </a:rPr>
              <a:t>。</a:t>
            </a:r>
            <a:endParaRPr sz="1650" b="1">
              <a:solidFill>
                <a:srgbClr val="11111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09600" y="457200"/>
            <a:ext cx="876300" cy="57150"/>
          </a:xfrm>
          <a:prstGeom prst="rect">
            <a:avLst/>
          </a:prstGeom>
          <a:solidFill>
            <a:srgbClr val="FF6B35"/>
          </a:solidFill>
          <a:ln w="0">
            <a:solidFill>
              <a:srgbClr val="FF6B35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666750"/>
            <a:ext cx="72390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lnSpc>
                <a:spcPct val="105000"/>
              </a:lnSpc>
              <a:buNone/>
              <a:defRPr sz="4200" b="1">
                <a:solidFill>
                  <a:srgbClr val="111111"/>
                </a:solidFill>
              </a:defRPr>
            </a:pPr>
            <a:r>
              <a:rPr sz="4200" b="1">
                <a:solidFill>
                  <a:srgbClr val="111111"/>
                </a:solidFill>
              </a:rPr>
              <a:t>Claude Code 的记忆架构</a:t>
            </a:r>
            <a:endParaRPr sz="4200" b="1">
              <a:solidFill>
                <a:srgbClr val="111111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1180" y="1412875"/>
            <a:ext cx="4157980" cy="3625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lnSpc>
                <a:spcPct val="118000"/>
              </a:lnSpc>
              <a:buNone/>
              <a:defRPr sz="1500">
                <a:solidFill>
                  <a:srgbClr val="555555"/>
                </a:solidFill>
              </a:defRPr>
            </a:pPr>
            <a:r>
              <a:rPr sz="1500">
                <a:solidFill>
                  <a:srgbClr val="555555"/>
                </a:solidFill>
              </a:rPr>
              <a:t>索引始终在 prompt 里，完整内容按需展开。</a:t>
            </a:r>
            <a:endParaRPr sz="1500">
              <a:solidFill>
                <a:srgbClr val="555555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430000" y="6477000"/>
            <a:ext cx="419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555555"/>
                </a:solidFill>
              </a:defRPr>
            </a:pPr>
            <a:r>
              <a:rPr sz="1050">
                <a:solidFill>
                  <a:srgbClr val="555555"/>
                </a:solidFill>
              </a:rPr>
              <a:t>05</a:t>
            </a:r>
            <a:endParaRPr sz="1050">
              <a:solidFill>
                <a:srgbClr val="555555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1790700"/>
            <a:ext cx="6667500" cy="1562100"/>
          </a:xfrm>
          <a:prstGeom prst="rect">
            <a:avLst/>
          </a:prstGeom>
          <a:solidFill>
            <a:srgbClr val="FAFAFA"/>
          </a:solidFill>
          <a:ln w="9525">
            <a:solidFill>
              <a:srgbClr val="D5D7DB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838200" y="186690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声明层</a:t>
            </a:r>
            <a:endParaRPr sz="1350" b="1">
              <a:solidFill>
                <a:srgbClr val="FF6B35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38200" y="2133600"/>
            <a:ext cx="6096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CLAUDE.md</a:t>
            </a:r>
            <a:r>
              <a:rPr sz="2550" b="1">
                <a:solidFill>
                  <a:srgbClr val="111111"/>
                </a:solidFill>
              </a:rPr>
              <a:t>（公司</a:t>
            </a:r>
            <a:r>
              <a:rPr sz="2550" b="1">
                <a:solidFill>
                  <a:srgbClr val="111111"/>
                </a:solidFill>
              </a:rPr>
              <a:t>手册）</a:t>
            </a:r>
            <a:endParaRPr sz="2550" b="1">
              <a:solidFill>
                <a:srgbClr val="111111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38200" y="2571750"/>
            <a:ext cx="6096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lnSpc>
                <a:spcPct val="116000"/>
              </a:lnSpc>
              <a:buNone/>
              <a:defRPr sz="1500">
                <a:solidFill>
                  <a:srgbClr val="555555"/>
                </a:solidFill>
              </a:defRPr>
            </a:pPr>
            <a:r>
              <a:rPr sz="1500">
                <a:solidFill>
                  <a:srgbClr val="555555"/>
                </a:solidFill>
              </a:rPr>
              <a:t>项目约定 / 工作流 / 约束</a:t>
            </a:r>
            <a:endParaRPr sz="1500">
              <a:solidFill>
                <a:srgbClr val="555555"/>
              </a:solidFill>
            </a:endParaRPr>
          </a:p>
          <a:p>
            <a:pPr>
              <a:lnSpc>
                <a:spcPct val="116000"/>
              </a:lnSpc>
              <a:buNone/>
              <a:defRPr sz="1500">
                <a:solidFill>
                  <a:srgbClr val="555555"/>
                </a:solidFill>
              </a:defRPr>
            </a:pPr>
            <a:r>
              <a:rPr sz="1500">
                <a:solidFill>
                  <a:srgbClr val="555555"/>
                </a:solidFill>
              </a:rPr>
              <a:t>它更像“说明书”，不是历史日志。</a:t>
            </a:r>
            <a:endParaRPr sz="1500">
              <a:solidFill>
                <a:srgbClr val="555555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09600" y="3429000"/>
            <a:ext cx="6667500" cy="1485900"/>
          </a:xfrm>
          <a:prstGeom prst="rect">
            <a:avLst/>
          </a:prstGeom>
          <a:solidFill>
            <a:srgbClr val="F2F2F2"/>
          </a:solidFill>
          <a:ln w="9525">
            <a:solidFill>
              <a:srgbClr val="D5D7DB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838200" y="361950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学习层</a:t>
            </a:r>
            <a:endParaRPr sz="1350" b="1">
              <a:solidFill>
                <a:srgbClr val="FF6B35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38200" y="3886200"/>
            <a:ext cx="6096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MEMORY.md</a:t>
            </a:r>
            <a:r>
              <a:rPr sz="2250" b="1">
                <a:solidFill>
                  <a:srgbClr val="111111"/>
                </a:solidFill>
              </a:rPr>
              <a:t>（自己的</a:t>
            </a:r>
            <a:r>
              <a:rPr sz="2250" b="1">
                <a:solidFill>
                  <a:srgbClr val="111111"/>
                </a:solidFill>
              </a:rPr>
              <a:t>工作笔记）</a:t>
            </a:r>
            <a:endParaRPr sz="2250" b="1">
              <a:solidFill>
                <a:srgbClr val="111111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38200" y="4286250"/>
            <a:ext cx="6096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lnSpc>
                <a:spcPct val="118000"/>
              </a:lnSpc>
              <a:buNone/>
              <a:defRPr sz="1425">
                <a:solidFill>
                  <a:srgbClr val="555555"/>
                </a:solidFill>
              </a:defRPr>
            </a:pPr>
            <a:r>
              <a:rPr sz="1425">
                <a:solidFill>
                  <a:srgbClr val="555555"/>
                </a:solidFill>
              </a:rPr>
              <a:t>索引常驻，内容按需加载</a:t>
            </a:r>
            <a:endParaRPr sz="1425">
              <a:solidFill>
                <a:srgbClr val="555555"/>
              </a:solidFill>
            </a:endParaRPr>
          </a:p>
          <a:p>
            <a:pPr>
              <a:lnSpc>
                <a:spcPct val="118000"/>
              </a:lnSpc>
              <a:buNone/>
              <a:defRPr sz="1425">
                <a:solidFill>
                  <a:srgbClr val="555555"/>
                </a:solidFill>
              </a:defRPr>
            </a:pPr>
            <a:r>
              <a:rPr sz="1425">
                <a:solidFill>
                  <a:srgbClr val="555555"/>
                </a:solidFill>
              </a:rPr>
              <a:t>让 agent 知道“有什么”，但不一次性塞爆上下文。</a:t>
            </a:r>
            <a:endParaRPr sz="1425">
              <a:solidFill>
                <a:srgbClr val="555555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09600" y="5219700"/>
            <a:ext cx="6858000" cy="1446530"/>
          </a:xfrm>
          <a:prstGeom prst="rect">
            <a:avLst/>
          </a:prstGeom>
          <a:solidFill>
            <a:srgbClr val="FFFFFF"/>
          </a:solidFill>
          <a:ln w="9525">
            <a:solidFill>
              <a:srgbClr val="D5D7DB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548005" y="5409565"/>
            <a:ext cx="1089025" cy="78930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AI</a:t>
            </a:r>
            <a:r>
              <a:rPr sz="1350" b="1">
                <a:solidFill>
                  <a:srgbClr val="FF6B35"/>
                </a:solidFill>
              </a:rPr>
              <a:t>需要长期</a:t>
            </a:r>
            <a:r>
              <a:rPr sz="1350" b="1">
                <a:solidFill>
                  <a:srgbClr val="FF6B35"/>
                </a:solidFill>
              </a:rPr>
              <a:t>记忆的</a:t>
            </a:r>
            <a:r>
              <a:rPr sz="1350" b="1">
                <a:solidFill>
                  <a:srgbClr val="FF6B35"/>
                </a:solidFill>
              </a:rPr>
              <a:t>四类内容</a:t>
            </a:r>
            <a:endParaRPr sz="1350" b="1">
              <a:solidFill>
                <a:srgbClr val="FF6B35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742440" y="5483225"/>
            <a:ext cx="1153795" cy="485140"/>
          </a:xfrm>
          <a:prstGeom prst="rect">
            <a:avLst/>
          </a:prstGeom>
          <a:solidFill>
            <a:srgbClr val="F2F2F2"/>
          </a:solidFill>
          <a:ln w="9525">
            <a:solidFill>
              <a:srgbClr val="D5D7DB"/>
            </a:solidFill>
            <a:prstDash val="solid"/>
          </a:ln>
        </p:spPr>
        <p:txBody>
          <a:bodyPr/>
          <a:lstStyle/>
          <a:p/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865630" y="5589270"/>
            <a:ext cx="969010" cy="21145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00" b="1">
                <a:solidFill>
                  <a:srgbClr val="111111"/>
                </a:solidFill>
              </a:defRPr>
            </a:pPr>
            <a:r>
              <a:rPr sz="900" b="1">
                <a:solidFill>
                  <a:srgbClr val="111111"/>
                </a:solidFill>
              </a:rPr>
              <a:t>user / 用户画像</a:t>
            </a:r>
            <a:endParaRPr sz="900" b="1">
              <a:solidFill>
                <a:srgbClr val="111111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2963545" y="5484495"/>
            <a:ext cx="1101725" cy="483870"/>
          </a:xfrm>
          <a:prstGeom prst="rect">
            <a:avLst/>
          </a:prstGeom>
          <a:solidFill>
            <a:srgbClr val="F2F2F2"/>
          </a:solidFill>
          <a:ln w="9525">
            <a:solidFill>
              <a:srgbClr val="D5D7DB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3056890" y="5572125"/>
            <a:ext cx="914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00" b="1">
                <a:solidFill>
                  <a:srgbClr val="111111"/>
                </a:solidFill>
              </a:defRPr>
            </a:pPr>
            <a:r>
              <a:rPr sz="900" b="1">
                <a:solidFill>
                  <a:srgbClr val="111111"/>
                </a:solidFill>
              </a:rPr>
              <a:t>feedback / 行为偏好</a:t>
            </a:r>
            <a:endParaRPr sz="900" b="1">
              <a:solidFill>
                <a:srgbClr val="111111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4176395" y="5486400"/>
            <a:ext cx="1104900" cy="482600"/>
          </a:xfrm>
          <a:prstGeom prst="rect">
            <a:avLst/>
          </a:prstGeom>
          <a:solidFill>
            <a:srgbClr val="F2F2F2"/>
          </a:solidFill>
          <a:ln w="9525">
            <a:solidFill>
              <a:srgbClr val="D5D7DB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4266565" y="5572125"/>
            <a:ext cx="914400" cy="3340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00" b="1">
                <a:solidFill>
                  <a:srgbClr val="111111"/>
                </a:solidFill>
              </a:defRPr>
            </a:pPr>
            <a:r>
              <a:rPr sz="900" b="1">
                <a:solidFill>
                  <a:srgbClr val="111111"/>
                </a:solidFill>
              </a:rPr>
              <a:t>project / 项目动态</a:t>
            </a:r>
            <a:endParaRPr sz="900" b="1">
              <a:solidFill>
                <a:srgbClr val="111111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5392420" y="5485765"/>
            <a:ext cx="1104900" cy="488950"/>
          </a:xfrm>
          <a:prstGeom prst="rect">
            <a:avLst/>
          </a:prstGeom>
          <a:solidFill>
            <a:srgbClr val="F2F2F2"/>
          </a:solidFill>
          <a:ln w="9525">
            <a:solidFill>
              <a:srgbClr val="D5D7DB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5520055" y="5589270"/>
            <a:ext cx="914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00" b="1">
                <a:solidFill>
                  <a:srgbClr val="111111"/>
                </a:solidFill>
              </a:defRPr>
            </a:pPr>
            <a:r>
              <a:rPr sz="900" b="1">
                <a:solidFill>
                  <a:srgbClr val="111111"/>
                </a:solidFill>
              </a:rPr>
              <a:t>reference / 外部指针</a:t>
            </a:r>
            <a:endParaRPr sz="900" b="1">
              <a:solidFill>
                <a:srgbClr val="111111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810500" y="1714500"/>
            <a:ext cx="3771900" cy="432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5D7DB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8077200" y="190500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500" b="1">
                <a:solidFill>
                  <a:srgbClr val="FF6B35"/>
                </a:solidFill>
              </a:defRPr>
            </a:pPr>
            <a:r>
              <a:rPr sz="1500" b="1">
                <a:solidFill>
                  <a:srgbClr val="FF6B35"/>
                </a:solidFill>
              </a:rPr>
              <a:t>这套结构的核心</a:t>
            </a:r>
            <a:endParaRPr sz="1500" b="1">
              <a:solidFill>
                <a:srgbClr val="FF6B35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8077200" y="2266950"/>
            <a:ext cx="31242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22000"/>
              </a:lnSpc>
              <a:buNone/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1. 先分类，再写入</a:t>
            </a:r>
            <a:endParaRPr sz="1950" b="1">
              <a:solidFill>
                <a:srgbClr val="111111"/>
              </a:solidFill>
            </a:endParaRPr>
          </a:p>
          <a:p>
            <a:pPr algn="ctr">
              <a:lnSpc>
                <a:spcPct val="122000"/>
              </a:lnSpc>
              <a:buNone/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2. 先索引，再展开</a:t>
            </a:r>
            <a:endParaRPr sz="1950" b="1">
              <a:solidFill>
                <a:srgbClr val="111111"/>
              </a:solidFill>
            </a:endParaRPr>
          </a:p>
          <a:p>
            <a:pPr algn="ctr">
              <a:lnSpc>
                <a:spcPct val="122000"/>
              </a:lnSpc>
              <a:buNone/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3. 先约束，再学习</a:t>
            </a:r>
            <a:endParaRPr sz="1950" b="1">
              <a:solidFill>
                <a:srgbClr val="111111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8077200" y="4000500"/>
            <a:ext cx="310515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lnSpc>
                <a:spcPct val="118000"/>
              </a:lnSpc>
              <a:buNone/>
              <a:defRPr sz="1500">
                <a:solidFill>
                  <a:srgbClr val="555555"/>
                </a:solidFill>
              </a:defRPr>
            </a:pPr>
            <a:r>
              <a:rPr sz="1500">
                <a:solidFill>
                  <a:srgbClr val="555555"/>
                </a:solidFill>
              </a:rPr>
              <a:t>Claude Code 不是把所有事情都扔进一个 CLAUDE.md，</a:t>
            </a:r>
            <a:endParaRPr sz="1500">
              <a:solidFill>
                <a:srgbClr val="555555"/>
              </a:solidFill>
            </a:endParaRPr>
          </a:p>
          <a:p>
            <a:pPr>
              <a:lnSpc>
                <a:spcPct val="118000"/>
              </a:lnSpc>
              <a:buNone/>
              <a:defRPr sz="1500">
                <a:solidFill>
                  <a:srgbClr val="555555"/>
                </a:solidFill>
              </a:defRPr>
            </a:pPr>
            <a:r>
              <a:rPr sz="1500">
                <a:solidFill>
                  <a:srgbClr val="555555"/>
                </a:solidFill>
              </a:rPr>
              <a:t>而是让记忆变成结构化、可检索、可更新的工作系统。</a:t>
            </a:r>
            <a:endParaRPr sz="1500">
              <a:solidFill>
                <a:srgbClr val="555555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09600" y="457200"/>
            <a:ext cx="876300" cy="57150"/>
          </a:xfrm>
          <a:prstGeom prst="rect">
            <a:avLst/>
          </a:prstGeom>
          <a:solidFill>
            <a:srgbClr val="FF6B35"/>
          </a:solidFill>
          <a:ln w="0">
            <a:solidFill>
              <a:srgbClr val="FF6B35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666750"/>
            <a:ext cx="72390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lnSpc>
                <a:spcPct val="105000"/>
              </a:lnSpc>
              <a:buNone/>
              <a:defRPr sz="4200" b="1">
                <a:solidFill>
                  <a:srgbClr val="111111"/>
                </a:solidFill>
              </a:defRPr>
            </a:pPr>
            <a:r>
              <a:rPr sz="4200" b="1">
                <a:solidFill>
                  <a:srgbClr val="111111"/>
                </a:solidFill>
              </a:rPr>
              <a:t>写入记忆：先判断，再压缩</a:t>
            </a:r>
            <a:endParaRPr sz="4200" b="1">
              <a:solidFill>
                <a:srgbClr val="111111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714500"/>
            <a:ext cx="685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lnSpc>
                <a:spcPct val="118000"/>
              </a:lnSpc>
              <a:buNone/>
              <a:defRPr sz="1500">
                <a:solidFill>
                  <a:srgbClr val="555555"/>
                </a:solidFill>
              </a:defRPr>
            </a:pPr>
            <a:r>
              <a:rPr sz="1500">
                <a:solidFill>
                  <a:srgbClr val="555555"/>
                </a:solidFill>
              </a:rPr>
              <a:t>记忆是被抽取出来的，不是把原文一股脑塞进去。</a:t>
            </a:r>
            <a:endParaRPr sz="1500">
              <a:solidFill>
                <a:srgbClr val="555555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430000" y="6477000"/>
            <a:ext cx="419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555555"/>
                </a:solidFill>
              </a:defRPr>
            </a:pPr>
            <a:r>
              <a:rPr sz="1050">
                <a:solidFill>
                  <a:srgbClr val="555555"/>
                </a:solidFill>
              </a:rPr>
              <a:t>06</a:t>
            </a:r>
            <a:endParaRPr sz="1050">
              <a:solidFill>
                <a:srgbClr val="555555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2476500"/>
            <a:ext cx="1676400" cy="1423035"/>
          </a:xfrm>
          <a:prstGeom prst="rect">
            <a:avLst/>
          </a:prstGeom>
          <a:solidFill>
            <a:srgbClr val="FFFFFF"/>
          </a:solidFill>
          <a:ln w="9525">
            <a:solidFill>
              <a:srgbClr val="D5D7DB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838200" y="2609850"/>
            <a:ext cx="342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1</a:t>
            </a:r>
            <a:endParaRPr sz="1650" b="1">
              <a:solidFill>
                <a:srgbClr val="FF6B35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38200" y="2857500"/>
            <a:ext cx="1371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扫描新信息</a:t>
            </a:r>
            <a:endParaRPr sz="1575" b="1">
              <a:solidFill>
                <a:srgbClr val="111111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38200" y="3200400"/>
            <a:ext cx="1371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lnSpc>
                <a:spcPct val="112000"/>
              </a:lnSpc>
              <a:buNone/>
              <a:defRPr sz="1125">
                <a:solidFill>
                  <a:srgbClr val="555555"/>
                </a:solidFill>
              </a:defRPr>
            </a:pPr>
            <a:r>
              <a:rPr sz="1125">
                <a:solidFill>
                  <a:srgbClr val="555555"/>
                </a:solidFill>
              </a:rPr>
              <a:t>从对话、文件、工具结果里找可复用的信号。</a:t>
            </a:r>
            <a:endParaRPr sz="1125">
              <a:solidFill>
                <a:srgbClr val="555555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2419350" y="2895600"/>
            <a:ext cx="171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950" b="1">
                <a:solidFill>
                  <a:srgbClr val="555555"/>
                </a:solidFill>
              </a:defRPr>
            </a:pPr>
            <a:r>
              <a:rPr sz="1950" b="1">
                <a:solidFill>
                  <a:srgbClr val="555555"/>
                </a:solidFill>
              </a:rPr>
              <a:t>→</a:t>
            </a:r>
            <a:endParaRPr sz="1950" b="1">
              <a:solidFill>
                <a:srgbClr val="555555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2628900" y="2476500"/>
            <a:ext cx="1676400" cy="1423670"/>
          </a:xfrm>
          <a:prstGeom prst="rect">
            <a:avLst/>
          </a:prstGeom>
          <a:solidFill>
            <a:srgbClr val="FFFFFF"/>
          </a:solidFill>
          <a:ln w="9525">
            <a:solidFill>
              <a:srgbClr val="D5D7DB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2781300" y="2609850"/>
            <a:ext cx="342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2</a:t>
            </a:r>
            <a:endParaRPr sz="1650" b="1">
              <a:solidFill>
                <a:srgbClr val="FF6B35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781300" y="2857500"/>
            <a:ext cx="1371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分类</a:t>
            </a:r>
            <a:endParaRPr sz="1575" b="1">
              <a:solidFill>
                <a:srgbClr val="111111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2781300" y="3200400"/>
            <a:ext cx="1371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lnSpc>
                <a:spcPct val="112000"/>
              </a:lnSpc>
              <a:buNone/>
              <a:defRPr sz="1125">
                <a:solidFill>
                  <a:srgbClr val="555555"/>
                </a:solidFill>
              </a:defRPr>
            </a:pPr>
            <a:r>
              <a:rPr sz="1125">
                <a:solidFill>
                  <a:srgbClr val="555555"/>
                </a:solidFill>
              </a:rPr>
              <a:t>落到 user / feedback / project / reference 四类。</a:t>
            </a:r>
            <a:endParaRPr sz="1125">
              <a:solidFill>
                <a:srgbClr val="555555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362450" y="2895600"/>
            <a:ext cx="171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950" b="1">
                <a:solidFill>
                  <a:srgbClr val="555555"/>
                </a:solidFill>
              </a:defRPr>
            </a:pPr>
            <a:r>
              <a:rPr sz="1950" b="1">
                <a:solidFill>
                  <a:srgbClr val="555555"/>
                </a:solidFill>
              </a:rPr>
              <a:t>→</a:t>
            </a:r>
            <a:endParaRPr sz="1950" b="1">
              <a:solidFill>
                <a:srgbClr val="555555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572000" y="2476500"/>
            <a:ext cx="1676400" cy="1412875"/>
          </a:xfrm>
          <a:prstGeom prst="rect">
            <a:avLst/>
          </a:prstGeom>
          <a:solidFill>
            <a:srgbClr val="FFFFFF"/>
          </a:solidFill>
          <a:ln w="9525">
            <a:solidFill>
              <a:srgbClr val="D5D7DB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4724400" y="2609850"/>
            <a:ext cx="342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3</a:t>
            </a:r>
            <a:endParaRPr sz="1650" b="1">
              <a:solidFill>
                <a:srgbClr val="FF6B35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4724400" y="2857500"/>
            <a:ext cx="1371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提炼</a:t>
            </a:r>
            <a:endParaRPr sz="1575" b="1">
              <a:solidFill>
                <a:srgbClr val="111111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4724400" y="3200400"/>
            <a:ext cx="1371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lnSpc>
                <a:spcPct val="112000"/>
              </a:lnSpc>
              <a:buNone/>
              <a:defRPr sz="1125">
                <a:solidFill>
                  <a:srgbClr val="555555"/>
                </a:solidFill>
              </a:defRPr>
            </a:pPr>
            <a:r>
              <a:rPr sz="1125">
                <a:solidFill>
                  <a:srgbClr val="555555"/>
                </a:solidFill>
              </a:rPr>
              <a:t>把长句压成短句，保留最稳定的事实。</a:t>
            </a:r>
            <a:endParaRPr sz="1125">
              <a:solidFill>
                <a:srgbClr val="555555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305550" y="2895600"/>
            <a:ext cx="171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950" b="1">
                <a:solidFill>
                  <a:srgbClr val="555555"/>
                </a:solidFill>
              </a:defRPr>
            </a:pPr>
            <a:r>
              <a:rPr sz="1950" b="1">
                <a:solidFill>
                  <a:srgbClr val="555555"/>
                </a:solidFill>
              </a:rPr>
              <a:t>→</a:t>
            </a:r>
            <a:endParaRPr sz="1950" b="1">
              <a:solidFill>
                <a:srgbClr val="555555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515100" y="2476500"/>
            <a:ext cx="1676400" cy="1412875"/>
          </a:xfrm>
          <a:prstGeom prst="rect">
            <a:avLst/>
          </a:prstGeom>
          <a:solidFill>
            <a:srgbClr val="F2F2F2"/>
          </a:solidFill>
          <a:ln w="9525">
            <a:solidFill>
              <a:srgbClr val="D5D7DB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6667500" y="2609850"/>
            <a:ext cx="342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4</a:t>
            </a:r>
            <a:endParaRPr sz="1650" b="1">
              <a:solidFill>
                <a:srgbClr val="FF6B35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667500" y="2857500"/>
            <a:ext cx="1371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标记时间</a:t>
            </a:r>
            <a:endParaRPr sz="1575" b="1">
              <a:solidFill>
                <a:srgbClr val="111111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667500" y="3200400"/>
            <a:ext cx="1371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lnSpc>
                <a:spcPct val="112000"/>
              </a:lnSpc>
              <a:buNone/>
              <a:defRPr sz="1125">
                <a:solidFill>
                  <a:srgbClr val="555555"/>
                </a:solidFill>
              </a:defRPr>
            </a:pPr>
            <a:r>
              <a:rPr sz="1125">
                <a:solidFill>
                  <a:srgbClr val="555555"/>
                </a:solidFill>
              </a:rPr>
              <a:t>2 天以前的记忆会被提醒为“历史快照”。</a:t>
            </a:r>
            <a:endParaRPr sz="1125">
              <a:solidFill>
                <a:srgbClr val="555555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248650" y="2895600"/>
            <a:ext cx="171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950" b="1">
                <a:solidFill>
                  <a:srgbClr val="555555"/>
                </a:solidFill>
              </a:defRPr>
            </a:pPr>
            <a:r>
              <a:rPr sz="1950" b="1">
                <a:solidFill>
                  <a:srgbClr val="555555"/>
                </a:solidFill>
              </a:rPr>
              <a:t>→</a:t>
            </a:r>
            <a:endParaRPr sz="1950" b="1">
              <a:solidFill>
                <a:srgbClr val="555555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8458200" y="2476500"/>
            <a:ext cx="1676400" cy="1423035"/>
          </a:xfrm>
          <a:prstGeom prst="rect">
            <a:avLst/>
          </a:prstGeom>
          <a:solidFill>
            <a:srgbClr val="FFFFFF"/>
          </a:solidFill>
          <a:ln w="9525">
            <a:solidFill>
              <a:srgbClr val="D5D7DB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8610600" y="2609850"/>
            <a:ext cx="342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5</a:t>
            </a:r>
            <a:endParaRPr sz="1650" b="1">
              <a:solidFill>
                <a:srgbClr val="FF6B35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8610600" y="2857500"/>
            <a:ext cx="1371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写入/更新</a:t>
            </a:r>
            <a:endParaRPr sz="1575" b="1">
              <a:solidFill>
                <a:srgbClr val="111111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8610600" y="3200400"/>
            <a:ext cx="1371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lnSpc>
                <a:spcPct val="112000"/>
              </a:lnSpc>
              <a:buNone/>
              <a:defRPr sz="1125">
                <a:solidFill>
                  <a:srgbClr val="555555"/>
                </a:solidFill>
              </a:defRPr>
            </a:pPr>
            <a:r>
              <a:rPr sz="1125">
                <a:solidFill>
                  <a:srgbClr val="555555"/>
                </a:solidFill>
              </a:rPr>
              <a:t>最终落到结构化记忆文件里。</a:t>
            </a:r>
            <a:endParaRPr sz="1125">
              <a:solidFill>
                <a:srgbClr val="555555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09600" y="4305300"/>
            <a:ext cx="10972800" cy="1430655"/>
          </a:xfrm>
          <a:prstGeom prst="rect">
            <a:avLst/>
          </a:prstGeom>
          <a:solidFill>
            <a:srgbClr val="FAFAFA"/>
          </a:solidFill>
          <a:ln w="9525">
            <a:solidFill>
              <a:srgbClr val="D5D7DB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838200" y="4533900"/>
            <a:ext cx="1032764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lnSpc>
                <a:spcPct val="118000"/>
              </a:lnSpc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2 天以前的记忆会主动带上 stale 提醒；如果和当前文件、函数名、flag 冲突，agent 要先验证再相信。</a:t>
            </a:r>
            <a:endParaRPr sz="1800" b="1">
              <a:solidFill>
                <a:srgbClr val="111111"/>
              </a:solidFill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839470" y="5300980"/>
            <a:ext cx="933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555555"/>
                </a:solidFill>
              </a:defRPr>
            </a:pPr>
            <a:r>
              <a:rPr sz="1400" b="1">
                <a:solidFill>
                  <a:srgbClr val="555555"/>
                </a:solidFill>
              </a:rPr>
              <a:t>agent </a:t>
            </a:r>
            <a:r>
              <a:rPr sz="1400" b="1">
                <a:solidFill>
                  <a:srgbClr val="555555"/>
                </a:solidFill>
              </a:rPr>
              <a:t>先把有用信息提炼成结构化记忆，后面再读出来使用。</a:t>
            </a:r>
            <a:endParaRPr sz="1400" b="1">
              <a:solidFill>
                <a:srgbClr val="555555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09600" y="457200"/>
            <a:ext cx="876300" cy="57150"/>
          </a:xfrm>
          <a:prstGeom prst="rect">
            <a:avLst/>
          </a:prstGeom>
          <a:solidFill>
            <a:srgbClr val="FF6B35"/>
          </a:solidFill>
          <a:ln w="0">
            <a:solidFill>
              <a:srgbClr val="FF6B35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666750"/>
            <a:ext cx="72390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lnSpc>
                <a:spcPct val="105000"/>
              </a:lnSpc>
              <a:buNone/>
              <a:defRPr sz="4200" b="1">
                <a:solidFill>
                  <a:srgbClr val="111111"/>
                </a:solidFill>
              </a:defRPr>
            </a:pPr>
            <a:r>
              <a:rPr sz="4200" b="1">
                <a:solidFill>
                  <a:srgbClr val="111111"/>
                </a:solidFill>
              </a:rPr>
              <a:t>读取记忆：按需展开，先验证</a:t>
            </a:r>
            <a:endParaRPr sz="4200" b="1">
              <a:solidFill>
                <a:srgbClr val="111111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71500" y="1428750"/>
            <a:ext cx="45148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lnSpc>
                <a:spcPct val="118000"/>
              </a:lnSpc>
              <a:buNone/>
              <a:defRPr sz="1500">
                <a:solidFill>
                  <a:srgbClr val="555555"/>
                </a:solidFill>
              </a:defRPr>
            </a:pPr>
            <a:r>
              <a:rPr sz="1500">
                <a:solidFill>
                  <a:srgbClr val="555555"/>
                </a:solidFill>
              </a:rPr>
              <a:t>最危险的不是召回不准，而是把过期记忆当成真理。</a:t>
            </a:r>
            <a:endParaRPr sz="1500">
              <a:solidFill>
                <a:srgbClr val="555555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430000" y="6477000"/>
            <a:ext cx="419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555555"/>
                </a:solidFill>
              </a:defRPr>
            </a:pPr>
            <a:r>
              <a:rPr sz="1050">
                <a:solidFill>
                  <a:srgbClr val="555555"/>
                </a:solidFill>
              </a:rPr>
              <a:t>07</a:t>
            </a:r>
            <a:endParaRPr sz="1050">
              <a:solidFill>
                <a:srgbClr val="555555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1838325"/>
            <a:ext cx="4857750" cy="1143000"/>
          </a:xfrm>
          <a:prstGeom prst="rect">
            <a:avLst/>
          </a:prstGeom>
          <a:solidFill>
            <a:srgbClr val="F2F2F2"/>
          </a:solidFill>
          <a:ln w="9525">
            <a:solidFill>
              <a:srgbClr val="D5D7DB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838200" y="1885950"/>
            <a:ext cx="428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1. 索引常驻</a:t>
            </a:r>
            <a:endParaRPr sz="1650" b="1">
              <a:solidFill>
                <a:srgbClr val="111111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38200" y="2190750"/>
            <a:ext cx="4248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lnSpc>
                <a:spcPct val="115000"/>
              </a:lnSpc>
              <a:buNone/>
              <a:defRPr sz="1350">
                <a:solidFill>
                  <a:srgbClr val="555555"/>
                </a:solidFill>
              </a:defRPr>
            </a:pPr>
            <a:r>
              <a:rPr sz="1350">
                <a:solidFill>
                  <a:srgbClr val="555555"/>
                </a:solidFill>
              </a:rPr>
              <a:t>MEMORY.md </a:t>
            </a:r>
            <a:r>
              <a:rPr sz="1350">
                <a:solidFill>
                  <a:srgbClr val="555555"/>
                </a:solidFill>
              </a:rPr>
              <a:t>（即</a:t>
            </a:r>
            <a:r>
              <a:rPr sz="1350">
                <a:solidFill>
                  <a:srgbClr val="555555"/>
                </a:solidFill>
              </a:rPr>
              <a:t>“</a:t>
            </a:r>
            <a:r>
              <a:rPr sz="1350">
                <a:solidFill>
                  <a:srgbClr val="555555"/>
                </a:solidFill>
              </a:rPr>
              <a:t>目录页</a:t>
            </a:r>
            <a:r>
              <a:rPr sz="1350">
                <a:solidFill>
                  <a:srgbClr val="555555"/>
                </a:solidFill>
              </a:rPr>
              <a:t>”</a:t>
            </a:r>
            <a:r>
              <a:rPr sz="1350">
                <a:solidFill>
                  <a:srgbClr val="555555"/>
                </a:solidFill>
              </a:rPr>
              <a:t>）</a:t>
            </a:r>
            <a:r>
              <a:rPr sz="1350">
                <a:solidFill>
                  <a:srgbClr val="555555"/>
                </a:solidFill>
              </a:rPr>
              <a:t>一直在 prompt 里，agent 先知道“有什么”再决定要不要展开。</a:t>
            </a:r>
            <a:endParaRPr sz="1350">
              <a:solidFill>
                <a:srgbClr val="555555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09600" y="3009900"/>
            <a:ext cx="4857750" cy="1143000"/>
          </a:xfrm>
          <a:prstGeom prst="rect">
            <a:avLst/>
          </a:prstGeom>
          <a:solidFill>
            <a:srgbClr val="FAFAFA"/>
          </a:solidFill>
          <a:ln w="9525">
            <a:solidFill>
              <a:srgbClr val="D5D7DB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38200" y="3181350"/>
            <a:ext cx="428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2. 内容按需</a:t>
            </a:r>
            <a:endParaRPr sz="1650" b="1">
              <a:solidFill>
                <a:srgbClr val="111111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38200" y="3486150"/>
            <a:ext cx="4248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lnSpc>
                <a:spcPct val="115000"/>
              </a:lnSpc>
              <a:buNone/>
              <a:defRPr sz="1350">
                <a:solidFill>
                  <a:srgbClr val="555555"/>
                </a:solidFill>
              </a:defRPr>
            </a:pPr>
            <a:r>
              <a:rPr sz="1350">
                <a:solidFill>
                  <a:srgbClr val="555555"/>
                </a:solidFill>
              </a:rPr>
              <a:t>候选集合不大时，让小模型挑 top-5，比把所有内容都塞进上下文更稳。</a:t>
            </a:r>
            <a:endParaRPr sz="1350">
              <a:solidFill>
                <a:srgbClr val="555555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09600" y="4305300"/>
            <a:ext cx="4857750" cy="1143000"/>
          </a:xfrm>
          <a:prstGeom prst="rect">
            <a:avLst/>
          </a:prstGeom>
          <a:solidFill>
            <a:srgbClr val="F2F2F2"/>
          </a:solidFill>
          <a:ln w="9525">
            <a:solidFill>
              <a:srgbClr val="D5D7DB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838200" y="4476750"/>
            <a:ext cx="428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3. 主动验证</a:t>
            </a:r>
            <a:endParaRPr sz="1650" b="1">
              <a:solidFill>
                <a:srgbClr val="111111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38200" y="4781550"/>
            <a:ext cx="4248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lnSpc>
                <a:spcPct val="115000"/>
              </a:lnSpc>
              <a:buNone/>
              <a:defRPr sz="1350">
                <a:solidFill>
                  <a:srgbClr val="555555"/>
                </a:solidFill>
              </a:defRPr>
            </a:pPr>
            <a:r>
              <a:rPr sz="1350">
                <a:solidFill>
                  <a:srgbClr val="555555"/>
                </a:solidFill>
              </a:rPr>
              <a:t>如果记忆里写了路径、函数或 flag，先 grep 一下，再决定要不要用。</a:t>
            </a:r>
            <a:endParaRPr sz="1350">
              <a:solidFill>
                <a:srgbClr val="555555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09600" y="5695950"/>
            <a:ext cx="4857750" cy="495300"/>
          </a:xfrm>
          <a:prstGeom prst="rect">
            <a:avLst/>
          </a:prstGeom>
          <a:solidFill>
            <a:srgbClr val="FF6B35"/>
          </a:solidFill>
          <a:ln w="9525">
            <a:solidFill>
              <a:srgbClr val="FF6B35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800100" y="5829300"/>
            <a:ext cx="447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记忆不是真理，它只是历史快照。</a:t>
            </a:r>
            <a:endParaRPr sz="1350" b="1">
              <a:solidFill>
                <a:srgbClr val="111111"/>
              </a:solidFill>
            </a:endParaRPr>
          </a:p>
        </p:txBody>
      </p:sp>
      <p:pic>
        <p:nvPicPr>
          <p:cNvPr id="34" name="图片 3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6500" y="2383443"/>
            <a:ext cx="5238750" cy="2948363"/>
          </a:xfrm>
          <a:prstGeom prst="rect">
            <a:avLst/>
          </a:prstGeom>
        </p:spPr>
      </p:pic>
      <p:sp>
        <p:nvSpPr>
          <p:cNvPr id="17" name="矩形 16"/>
          <p:cNvSpPr>
            <a:spLocks noGrp="1"/>
          </p:cNvSpPr>
          <p:nvPr/>
        </p:nvSpPr>
        <p:spPr>
          <a:xfrm>
            <a:off x="7124700" y="5886450"/>
            <a:ext cx="3714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1">
                <a:solidFill>
                  <a:srgbClr val="555555"/>
                </a:solidFill>
              </a:defRPr>
            </a:pPr>
            <a:r>
              <a:rPr sz="1600" b="1">
                <a:solidFill>
                  <a:srgbClr val="555555"/>
                </a:solidFill>
              </a:rPr>
              <a:t>过期记忆要提醒，冲突记忆要复核。</a:t>
            </a:r>
            <a:endParaRPr sz="1600" b="1">
              <a:solidFill>
                <a:srgbClr val="555555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09600" y="457200"/>
            <a:ext cx="876300" cy="57150"/>
          </a:xfrm>
          <a:prstGeom prst="rect">
            <a:avLst/>
          </a:prstGeom>
          <a:solidFill>
            <a:srgbClr val="FF6B35"/>
          </a:solidFill>
          <a:ln w="0">
            <a:solidFill>
              <a:srgbClr val="FF6B35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666750"/>
            <a:ext cx="10499090" cy="10553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lnSpc>
                <a:spcPct val="105000"/>
              </a:lnSpc>
              <a:buNone/>
              <a:defRPr sz="4200" b="1">
                <a:solidFill>
                  <a:srgbClr val="111111"/>
                </a:solidFill>
              </a:defRPr>
            </a:pPr>
            <a:r>
              <a:rPr sz="4200" b="1">
                <a:solidFill>
                  <a:srgbClr val="111111"/>
                </a:solidFill>
              </a:rPr>
              <a:t>能直接抄进自己 agent 项目的 4 条原则</a:t>
            </a:r>
            <a:endParaRPr sz="4200" b="1">
              <a:solidFill>
                <a:srgbClr val="111111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440180"/>
            <a:ext cx="5297170" cy="3886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lnSpc>
                <a:spcPct val="118000"/>
              </a:lnSpc>
              <a:buNone/>
              <a:defRPr sz="1500">
                <a:solidFill>
                  <a:srgbClr val="555555"/>
                </a:solidFill>
              </a:defRPr>
            </a:pPr>
            <a:r>
              <a:rPr sz="1500">
                <a:solidFill>
                  <a:srgbClr val="555555"/>
                </a:solidFill>
              </a:rPr>
              <a:t>把记忆做成结构化系统，而不是一堆随手写下来的文本。</a:t>
            </a:r>
            <a:endParaRPr sz="1500">
              <a:solidFill>
                <a:srgbClr val="555555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430000" y="6477000"/>
            <a:ext cx="419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555555"/>
                </a:solidFill>
              </a:defRPr>
            </a:pPr>
            <a:r>
              <a:rPr sz="1050">
                <a:solidFill>
                  <a:srgbClr val="555555"/>
                </a:solidFill>
              </a:rPr>
              <a:t>08</a:t>
            </a:r>
            <a:endParaRPr sz="1050">
              <a:solidFill>
                <a:srgbClr val="555555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23570" y="1826895"/>
            <a:ext cx="5105400" cy="1428750"/>
          </a:xfrm>
          <a:prstGeom prst="rect">
            <a:avLst/>
          </a:prstGeom>
          <a:solidFill>
            <a:srgbClr val="FAFAFA"/>
          </a:solidFill>
          <a:ln w="9525">
            <a:solidFill>
              <a:srgbClr val="D5D7DB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839470" y="2009775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结构化优于自由文本</a:t>
            </a:r>
            <a:endParaRPr sz="1800" b="1">
              <a:solidFill>
                <a:srgbClr val="111111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843915" y="2400300"/>
            <a:ext cx="4528185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6000"/>
              </a:lnSpc>
              <a:buNone/>
              <a:defRPr sz="1425">
                <a:solidFill>
                  <a:srgbClr val="555555"/>
                </a:solidFill>
              </a:defRPr>
            </a:pPr>
            <a:r>
              <a:rPr sz="1425">
                <a:solidFill>
                  <a:srgbClr val="555555"/>
                </a:solidFill>
              </a:rPr>
              <a:t>先分类，再写入；字段越明确，后面越好检索。</a:t>
            </a:r>
            <a:endParaRPr sz="1425">
              <a:solidFill>
                <a:srgbClr val="555555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6229350" y="1828800"/>
            <a:ext cx="5105400" cy="1428750"/>
          </a:xfrm>
          <a:prstGeom prst="rect">
            <a:avLst/>
          </a:prstGeom>
          <a:solidFill>
            <a:srgbClr val="F2F2F2"/>
          </a:solidFill>
          <a:ln w="9525">
            <a:solidFill>
              <a:srgbClr val="D5D7DB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6400800" y="2000250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索引常驻 + 内容按需</a:t>
            </a:r>
            <a:endParaRPr sz="1800" b="1">
              <a:solidFill>
                <a:srgbClr val="111111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6400800" y="2400300"/>
            <a:ext cx="47053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6000"/>
              </a:lnSpc>
              <a:buNone/>
              <a:defRPr sz="1425">
                <a:solidFill>
                  <a:srgbClr val="555555"/>
                </a:solidFill>
              </a:defRPr>
            </a:pPr>
            <a:r>
              <a:rPr sz="1425">
                <a:solidFill>
                  <a:srgbClr val="555555"/>
                </a:solidFill>
              </a:rPr>
              <a:t>让 agent 知道“有什么”，但不要一次性塞满上下文。</a:t>
            </a:r>
            <a:endParaRPr sz="1425">
              <a:solidFill>
                <a:srgbClr val="555555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609600" y="3519805"/>
            <a:ext cx="5105400" cy="1428750"/>
          </a:xfrm>
          <a:prstGeom prst="rect">
            <a:avLst/>
          </a:prstGeom>
          <a:solidFill>
            <a:srgbClr val="FAFAFA"/>
          </a:solidFill>
          <a:ln w="9525">
            <a:solidFill>
              <a:srgbClr val="D5D7DB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781050" y="3691255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廉价模型做选择题</a:t>
            </a:r>
            <a:endParaRPr sz="1800" b="1">
              <a:solidFill>
                <a:srgbClr val="111111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781050" y="4152900"/>
            <a:ext cx="47053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6000"/>
              </a:lnSpc>
              <a:buNone/>
              <a:defRPr sz="1425">
                <a:solidFill>
                  <a:srgbClr val="555555"/>
                </a:solidFill>
              </a:defRPr>
            </a:pPr>
            <a:r>
              <a:rPr sz="1425">
                <a:solidFill>
                  <a:srgbClr val="555555"/>
                </a:solidFill>
              </a:rPr>
              <a:t>候选不大时，小模型比阈值检索更可解释。</a:t>
            </a:r>
            <a:endParaRPr sz="1425">
              <a:solidFill>
                <a:srgbClr val="555555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6229350" y="3581400"/>
            <a:ext cx="5105400" cy="1428750"/>
          </a:xfrm>
          <a:prstGeom prst="rect">
            <a:avLst/>
          </a:prstGeom>
          <a:solidFill>
            <a:srgbClr val="F2F2F2"/>
          </a:solidFill>
          <a:ln w="9525">
            <a:solidFill>
              <a:srgbClr val="D5D7DB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6400800" y="3752850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时间感知 + 主动验证</a:t>
            </a:r>
            <a:endParaRPr sz="1800" b="1">
              <a:solidFill>
                <a:srgbClr val="111111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6400800" y="4152900"/>
            <a:ext cx="47053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6000"/>
              </a:lnSpc>
              <a:buNone/>
              <a:defRPr sz="1425">
                <a:solidFill>
                  <a:srgbClr val="555555"/>
                </a:solidFill>
              </a:defRPr>
            </a:pPr>
            <a:r>
              <a:rPr sz="1425">
                <a:solidFill>
                  <a:srgbClr val="555555"/>
                </a:solidFill>
              </a:rPr>
              <a:t>记忆会过期，拿来用之前最好先验证一次。</a:t>
            </a:r>
            <a:endParaRPr sz="1425">
              <a:solidFill>
                <a:srgbClr val="555555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09600" y="5372100"/>
            <a:ext cx="10725150" cy="762000"/>
          </a:xfrm>
          <a:prstGeom prst="rect">
            <a:avLst/>
          </a:prstGeom>
          <a:solidFill>
            <a:srgbClr val="F2F2F2"/>
          </a:solidFill>
          <a:ln w="9525">
            <a:solidFill>
              <a:srgbClr val="D5D7DB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838200" y="5581650"/>
            <a:ext cx="1009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面试回答顺序：LLM 无状态 → 主流方案短板 → Claude Code 的两层架构 → 可迁移原则。</a:t>
            </a:r>
            <a:endParaRPr sz="1650" b="1">
              <a:solidFill>
                <a:srgbClr val="11111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09600" y="514350"/>
            <a:ext cx="876300" cy="57150"/>
          </a:xfrm>
          <a:prstGeom prst="rect">
            <a:avLst/>
          </a:prstGeom>
          <a:solidFill>
            <a:srgbClr val="FF6B35"/>
          </a:solidFill>
          <a:ln w="0">
            <a:solidFill>
              <a:srgbClr val="FF6B35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2207260" y="857250"/>
            <a:ext cx="6667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一句话带走</a:t>
            </a:r>
            <a:endParaRPr sz="3000" b="1">
              <a:solidFill>
                <a:srgbClr val="111111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676400"/>
            <a:ext cx="10972800" cy="2476500"/>
          </a:xfrm>
          <a:prstGeom prst="rect">
            <a:avLst/>
          </a:prstGeom>
          <a:solidFill>
            <a:srgbClr val="FAFAFA"/>
          </a:solidFill>
          <a:ln w="9525">
            <a:solidFill>
              <a:srgbClr val="D5D7DB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990600" y="2209800"/>
            <a:ext cx="102108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20000"/>
              </a:lnSpc>
              <a:buNone/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记忆不是把过去存起来，</a:t>
            </a:r>
            <a:endParaRPr sz="2400" b="1">
              <a:solidFill>
                <a:srgbClr val="111111"/>
              </a:solidFill>
            </a:endParaRPr>
          </a:p>
          <a:p>
            <a:pPr algn="ctr">
              <a:lnSpc>
                <a:spcPct val="120000"/>
              </a:lnSpc>
              <a:buNone/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而是让今天的 agent 知道该看什么、该信什么、该验证什么。</a:t>
            </a:r>
            <a:endParaRPr sz="2400" b="1">
              <a:solidFill>
                <a:srgbClr val="111111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990600" y="361950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FF6B35"/>
                </a:solidFill>
              </a:defRPr>
            </a:p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990600" y="4095750"/>
            <a:ext cx="95250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lnSpc>
                <a:spcPct val="118000"/>
              </a:lnSpc>
              <a:buNone/>
              <a:defRPr sz="1800">
                <a:solidFill>
                  <a:srgbClr val="555555"/>
                </a:solidFill>
              </a:defRPr>
            </a:pPr>
          </a:p>
          <a:p>
            <a:pPr algn="ctr">
              <a:lnSpc>
                <a:spcPct val="118000"/>
              </a:lnSpc>
              <a:buNone/>
              <a:defRPr sz="1800">
                <a:solidFill>
                  <a:srgbClr val="555555"/>
                </a:solidFill>
              </a:defRPr>
            </a:pPr>
            <a:r>
              <a:rPr sz="1800">
                <a:solidFill>
                  <a:srgbClr val="555555"/>
                </a:solidFill>
              </a:rPr>
              <a:t>总结：</a:t>
            </a:r>
            <a:r>
              <a:rPr sz="1800">
                <a:solidFill>
                  <a:srgbClr val="555555"/>
                </a:solidFill>
              </a:rPr>
              <a:t>agent 的记忆不是自然长出来的，而是被结构化设计出来的状态系统。</a:t>
            </a:r>
            <a:endParaRPr sz="1800">
              <a:solidFill>
                <a:srgbClr val="555555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295775" y="5257800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谢谢</a:t>
            </a:r>
            <a:r>
              <a:rPr sz="1500" b="1">
                <a:solidFill>
                  <a:srgbClr val="111111"/>
                </a:solidFill>
              </a:rPr>
              <a:t>！</a:t>
            </a:r>
            <a:endParaRPr sz="1500" b="1">
              <a:solidFill>
                <a:srgbClr val="111111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1430000" y="6477000"/>
            <a:ext cx="419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555555"/>
                </a:solidFill>
              </a:defRPr>
            </a:pPr>
            <a:r>
              <a:rPr sz="1050">
                <a:solidFill>
                  <a:srgbClr val="555555"/>
                </a:solidFill>
              </a:rPr>
              <a:t>09</a:t>
            </a:r>
            <a:endParaRPr sz="1050">
              <a:solidFill>
                <a:srgbClr val="555555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09600" y="514350"/>
            <a:ext cx="876300" cy="57150"/>
          </a:xfrm>
          <a:prstGeom prst="rect">
            <a:avLst/>
          </a:prstGeom>
          <a:solidFill>
            <a:srgbClr val="FF6B35"/>
          </a:solidFill>
          <a:ln w="0">
            <a:solidFill>
              <a:srgbClr val="FF6B35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2207260" y="857250"/>
            <a:ext cx="6667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7 个问题</a:t>
            </a:r>
            <a:endParaRPr sz="3000" b="1">
              <a:solidFill>
                <a:srgbClr val="111111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466850"/>
            <a:ext cx="10972800" cy="4196080"/>
          </a:xfrm>
          <a:prstGeom prst="rect">
            <a:avLst/>
          </a:prstGeom>
          <a:solidFill>
            <a:srgbClr val="FAFAFA"/>
          </a:solidFill>
          <a:ln w="9525">
            <a:solidFill>
              <a:srgbClr val="D5D7DB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990600" y="2204720"/>
            <a:ext cx="102108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20000"/>
              </a:lnSpc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1. </a:t>
            </a:r>
            <a:r>
              <a:rPr lang="en-US" altLang="zh-CN" sz="1350" b="1">
                <a:solidFill>
                  <a:srgbClr val="111111"/>
                </a:solidFill>
              </a:rPr>
              <a:t>LLM </a:t>
            </a:r>
            <a:r>
              <a:rPr lang="zh-CN" altLang="en-US" sz="1350" b="1">
                <a:solidFill>
                  <a:srgbClr val="111111"/>
                </a:solidFill>
              </a:rPr>
              <a:t>明明是「无状态」的，那它跟你聊到第 50 轮还像记得你，记忆到底存在哪？</a:t>
            </a:r>
            <a:endParaRPr lang="zh-CN" altLang="en-US" sz="1350" b="1">
              <a:solidFill>
                <a:srgbClr val="111111"/>
              </a:solidFill>
            </a:endParaRPr>
          </a:p>
          <a:p>
            <a:pPr algn="ctr">
              <a:lnSpc>
                <a:spcPct val="120000"/>
              </a:lnSpc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2. </a:t>
            </a:r>
            <a:r>
              <a:rPr lang="zh-CN" altLang="en-US" sz="1350" b="1">
                <a:solidFill>
                  <a:srgbClr val="111111"/>
                </a:solidFill>
              </a:rPr>
              <a:t>滑动窗口、对话摘要、向量检索这些主流方案，听上去都挺合理，到底差在哪？</a:t>
            </a:r>
            <a:endParaRPr lang="zh-CN" altLang="en-US" sz="1350" b="1">
              <a:solidFill>
                <a:srgbClr val="111111"/>
              </a:solidFill>
            </a:endParaRPr>
          </a:p>
          <a:p>
            <a:pPr algn="ctr">
              <a:lnSpc>
                <a:spcPct val="120000"/>
              </a:lnSpc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3. </a:t>
            </a:r>
            <a:r>
              <a:rPr lang="en-US" altLang="zh-CN">
                <a:sym typeface="+mn-ea"/>
              </a:rPr>
              <a:t>Claude Code </a:t>
            </a:r>
            <a:r>
              <a:rPr lang="zh-CN" altLang="en-US">
                <a:sym typeface="+mn-ea"/>
              </a:rPr>
              <a:t>不上向量数据库，那它究竟拿什么来存记忆？</a:t>
            </a:r>
            <a:endParaRPr lang="zh-CN" altLang="en-US">
              <a:sym typeface="+mn-ea"/>
            </a:endParaRPr>
          </a:p>
          <a:p>
            <a:pPr algn="ctr">
              <a:lnSpc>
                <a:spcPct val="120000"/>
              </a:lnSpc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4. </a:t>
            </a:r>
            <a:r>
              <a:rPr lang="zh-CN" altLang="en-US">
                <a:sym typeface="+mn-ea"/>
              </a:rPr>
              <a:t>为什么一个 </a:t>
            </a:r>
            <a:r>
              <a:rPr lang="en-US" altLang="zh-CN">
                <a:sym typeface="+mn-ea"/>
              </a:rPr>
              <a:t>CLAUDE.md </a:t>
            </a:r>
            <a:r>
              <a:rPr lang="zh-CN" altLang="en-US">
                <a:sym typeface="+mn-ea"/>
              </a:rPr>
              <a:t>不够用，非得拆成六个层级？</a:t>
            </a:r>
            <a:endParaRPr lang="zh-CN" altLang="en-US" b="1">
              <a:solidFill>
                <a:srgbClr val="111111"/>
              </a:solidFill>
            </a:endParaRPr>
          </a:p>
          <a:p>
            <a:pPr algn="ctr">
              <a:lnSpc>
                <a:spcPct val="120000"/>
              </a:lnSpc>
              <a:buNone/>
              <a:defRPr sz="1350" b="1">
                <a:solidFill>
                  <a:srgbClr val="111111"/>
                </a:solidFill>
              </a:defRPr>
            </a:pPr>
            <a:endParaRPr lang="zh-CN" altLang="en-US" sz="1350" b="1">
              <a:solidFill>
                <a:srgbClr val="111111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55370" y="3068955"/>
            <a:ext cx="10210800" cy="10293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18000"/>
              </a:lnSpc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5. </a:t>
            </a:r>
            <a:r>
              <a:rPr lang="en-US" altLang="zh-CN">
                <a:sym typeface="+mn-ea"/>
              </a:rPr>
              <a:t>Claude Code </a:t>
            </a:r>
            <a:r>
              <a:rPr lang="zh-CN" altLang="en-US">
                <a:sym typeface="+mn-ea"/>
              </a:rPr>
              <a:t>怎么做到让 </a:t>
            </a:r>
            <a:r>
              <a:rPr lang="en-US" altLang="zh-CN">
                <a:sym typeface="+mn-ea"/>
              </a:rPr>
              <a:t>agent「</a:t>
            </a:r>
            <a:r>
              <a:rPr lang="zh-CN" altLang="en-US">
                <a:sym typeface="+mn-ea"/>
              </a:rPr>
              <a:t>自己学、自己写、自己用」记忆这一整个闭环？</a:t>
            </a:r>
            <a:endParaRPr lang="zh-CN" altLang="en-US">
              <a:sym typeface="+mn-ea"/>
            </a:endParaRPr>
          </a:p>
          <a:p>
            <a:pPr algn="ctr">
              <a:lnSpc>
                <a:spcPct val="118000"/>
              </a:lnSpc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6. </a:t>
            </a:r>
            <a:r>
              <a:rPr lang="zh-CN" altLang="en-US">
                <a:sym typeface="+mn-ea"/>
              </a:rPr>
              <a:t>这套设计里，到底有哪几条原则能直接抄进你自己的 </a:t>
            </a:r>
            <a:r>
              <a:rPr lang="en-US" altLang="zh-CN">
                <a:sym typeface="+mn-ea"/>
              </a:rPr>
              <a:t>agent </a:t>
            </a:r>
            <a:r>
              <a:rPr lang="zh-CN" altLang="en-US">
                <a:sym typeface="+mn-ea"/>
              </a:rPr>
              <a:t>项目？</a:t>
            </a:r>
            <a:endParaRPr lang="zh-CN" altLang="en-US" sz="1350" b="1">
              <a:solidFill>
                <a:srgbClr val="111111"/>
              </a:solidFill>
            </a:endParaRPr>
          </a:p>
          <a:p>
            <a:pPr algn="ctr">
              <a:lnSpc>
                <a:spcPct val="118000"/>
              </a:lnSpc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7. </a:t>
            </a:r>
            <a:r>
              <a:rPr lang="zh-CN" altLang="en-US" sz="1350" b="1">
                <a:solidFill>
                  <a:srgbClr val="111111"/>
                </a:solidFill>
              </a:rPr>
              <a:t>面试官再问起记忆机制，怎么答才能让对方眼前一亮？</a:t>
            </a:r>
            <a:endParaRPr lang="zh-CN" altLang="en-US" sz="1350" b="1">
              <a:solidFill>
                <a:srgbClr val="111111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295775" y="5257800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500" b="1">
                <a:solidFill>
                  <a:srgbClr val="111111"/>
                </a:solidFill>
              </a:defRPr>
            </a:pPr>
            <a:endParaRPr sz="1500" b="1">
              <a:solidFill>
                <a:srgbClr val="111111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1430000" y="6477000"/>
            <a:ext cx="419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>
                <a:solidFill>
                  <a:srgbClr val="555555"/>
                </a:solidFill>
              </a:defRPr>
            </a:pPr>
            <a:r>
              <a:rPr sz="1050">
                <a:solidFill>
                  <a:srgbClr val="555555"/>
                </a:solidFill>
              </a:rPr>
              <a:t>10</a:t>
            </a:r>
            <a:endParaRPr sz="1050">
              <a:solidFill>
                <a:srgbClr val="555555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29.35,&quot;left&quot;:34.5,&quot;top&quot;:143.85,&quot;width&quot;:858}"/>
</p:tagLst>
</file>

<file path=ppt/tags/tag2.xml><?xml version="1.0" encoding="utf-8"?>
<p:tagLst xmlns:p="http://schemas.openxmlformats.org/presentationml/2006/main">
  <p:tag name="KSO_WM_DIAGRAM_VIRTUALLY_FRAME" val="{&quot;height&quot;:329.35,&quot;left&quot;:34.5,&quot;top&quot;:143.85,&quot;width&quot;:858}"/>
</p:tagLst>
</file>

<file path=ppt/tags/tag3.xml><?xml version="1.0" encoding="utf-8"?>
<p:tagLst xmlns:p="http://schemas.openxmlformats.org/presentationml/2006/main">
  <p:tag name="KSO_WM_DIAGRAM_VIRTUALLY_FRAME" val="{&quot;height&quot;:329.35,&quot;left&quot;:34.5,&quot;top&quot;:143.85,&quot;width&quot;:858}"/>
</p:tagLst>
</file>

<file path=ppt/tags/tag4.xml><?xml version="1.0" encoding="utf-8"?>
<p:tagLst xmlns:p="http://schemas.openxmlformats.org/presentationml/2006/main">
  <p:tag name="KSO_WM_DIAGRAM_VIRTUALLY_FRAME" val="{&quot;height&quot;:329.35,&quot;left&quot;:34.5,&quot;top&quot;:143.85,&quot;width&quot;:858}"/>
</p:tagLst>
</file>

<file path=ppt/tags/tag5.xml><?xml version="1.0" encoding="utf-8"?>
<p:tagLst xmlns:p="http://schemas.openxmlformats.org/presentationml/2006/main">
  <p:tag name="KSO_WM_DIAGRAM_VIRTUALLY_FRAME" val="{&quot;height&quot;:329.35,&quot;left&quot;:34.5,&quot;top&quot;:143.85,&quot;width&quot;:858}"/>
</p:tagLst>
</file>

<file path=ppt/tags/tag6.xml><?xml version="1.0" encoding="utf-8"?>
<p:tagLst xmlns:p="http://schemas.openxmlformats.org/presentationml/2006/main">
  <p:tag name="KSO_WM_DIAGRAM_VIRTUALLY_FRAME" val="{&quot;height&quot;:329.35,&quot;left&quot;:34.5,&quot;top&quot;:143.85,&quot;width&quot;:858}"/>
</p:tagLst>
</file>

<file path=ppt/tags/tag7.xml><?xml version="1.0" encoding="utf-8"?>
<p:tagLst xmlns:p="http://schemas.openxmlformats.org/presentationml/2006/main">
  <p:tag name="KSO_WM_DIAGRAM_VIRTUALLY_FRAME" val="{&quot;height&quot;:329.35,&quot;left&quot;:34.5,&quot;top&quot;:143.85,&quot;width&quot;:858}"/>
</p:tagLst>
</file>

<file path=ppt/tags/tag8.xml><?xml version="1.0" encoding="utf-8"?>
<p:tagLst xmlns:p="http://schemas.openxmlformats.org/presentationml/2006/main">
  <p:tag name="KSO_WM_DIAGRAM_VIRTUALLY_FRAME" val="{&quot;height&quot;:329.35,&quot;left&quot;:34.5,&quot;top&quot;:143.85,&quot;width&quot;:858}"/>
</p:tagLst>
</file>

<file path=ppt/tags/tag9.xml><?xml version="1.0" encoding="utf-8"?>
<p:tagLst xmlns:p="http://schemas.openxmlformats.org/presentationml/2006/main">
  <p:tag name="KSO_WM_DIAGRAM_VIRTUALLY_FRAME" val="{&quot;height&quot;:329.35,&quot;left&quot;:34.5,&quot;top&quot;:143.85,&quot;width&quot;:858}"/>
</p:tagLst>
</file>

<file path=ppt/tags/tag10.xml><?xml version="1.0" encoding="utf-8"?>
<p:tagLst xmlns:p="http://schemas.openxmlformats.org/presentationml/2006/main">
  <p:tag name="KSO_WM_DIAGRAM_VIRTUALLY_FRAME" val="{&quot;height&quot;:329.35,&quot;left&quot;:34.5,&quot;top&quot;:143.85,&quot;width&quot;:858}"/>
</p:tagLst>
</file>

<file path=ppt/tags/tag11.xml><?xml version="1.0" encoding="utf-8"?>
<p:tagLst xmlns:p="http://schemas.openxmlformats.org/presentationml/2006/main">
  <p:tag name="KSO_WM_DIAGRAM_VIRTUALLY_FRAME" val="{&quot;height&quot;:329.35,&quot;left&quot;:34.5,&quot;top&quot;:143.85,&quot;width&quot;:858}"/>
</p:tagLst>
</file>

<file path=ppt/tags/tag12.xml><?xml version="1.0" encoding="utf-8"?>
<p:tagLst xmlns:p="http://schemas.openxmlformats.org/presentationml/2006/main">
  <p:tag name="KSO_WM_DIAGRAM_VIRTUALLY_FRAME" val="{&quot;height&quot;:329.35,&quot;left&quot;:34.5,&quot;top&quot;:143.85,&quot;width&quot;:858}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2186</Words>
  <Application>WPS 演示</Application>
  <PresentationFormat>Converted Presentation</PresentationFormat>
  <Paragraphs>270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7" baseType="lpstr">
      <vt:lpstr>Arial</vt:lpstr>
      <vt:lpstr>宋体</vt:lpstr>
      <vt:lpstr>Wingdings</vt:lpstr>
      <vt:lpstr>Calibri</vt:lpstr>
      <vt:lpstr>微软雅黑</vt:lpstr>
      <vt:lpstr>Arial Unicode MS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LZD</cp:lastModifiedBy>
  <cp:revision>5</cp:revision>
  <dcterms:created xsi:type="dcterms:W3CDTF">2026-06-29T04:10:00Z</dcterms:created>
  <dcterms:modified xsi:type="dcterms:W3CDTF">2026-06-29T05:20:26Z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A14CE8C06351493B92E3E6B38E40EB9B_12</vt:lpwstr>
  </property>
</Properties>
</file>