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81000"/>
            <a:ext cx="6858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09600"/>
            <a:ext cx="5334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buNone/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Claude Code</a:t>
            </a:r>
            <a:endParaRPr sz="4500" b="1">
              <a:solidFill>
                <a:srgbClr val="111111"/>
              </a:solidFill>
            </a:endParaRPr>
          </a:p>
          <a:p>
            <a:pPr>
              <a:lnSpc>
                <a:spcPct val="100000"/>
              </a:lnSpc>
              <a:buNone/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记忆机制</a:t>
            </a:r>
            <a:endParaRPr sz="45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667000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8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2400">
                <a:solidFill>
                  <a:srgbClr val="555555"/>
                </a:solidFill>
              </a:rPr>
              <a:t>从源码思路到面试回答：agent 怎么记住用户、项目和规则</a:t>
            </a:r>
            <a:endParaRPr sz="24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810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应用软件部组会分享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906000" y="58102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2026-06-28</a:t>
            </a:r>
            <a:endParaRPr sz="1050">
              <a:solidFill>
                <a:srgbClr val="555555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0" y="1748145"/>
            <a:ext cx="5905500" cy="33236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先想清楚：LLM 本身没有记忆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71450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每次回车，模型都只是“重新看一遍上下文”。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02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809750"/>
            <a:ext cx="4953000" cy="81915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1962150"/>
            <a:ext cx="457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系统提示词 + 历史对话 + 当前问题</a:t>
            </a:r>
            <a:endParaRPr sz="1650" b="1">
              <a:solidFill>
                <a:srgbClr val="111111"/>
              </a:solidFill>
            </a:endParaRPr>
          </a:p>
          <a:p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一起塞进上下文窗口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019425"/>
            <a:ext cx="209550" cy="3810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9337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客户端负责“带回历史”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20040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不是模型自己记住了，而是前端 / 客户端把历史消息重新发给它。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067175"/>
            <a:ext cx="209550" cy="3810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39814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聊天可以凑合，agent 不行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42481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对话几十轮还能撑住；工具调用、文件读取、API 循环一多就会爆窗口。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5114925"/>
            <a:ext cx="209550" cy="3810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50292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长期状态才是重点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4400" y="529590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agent 真正要记的是用户画像、行为偏好、项目动态和外部指针。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0" y="1619250"/>
            <a:ext cx="533400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62700" y="18669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一句话</a:t>
            </a:r>
            <a:endParaRPr sz="1350" b="1">
              <a:solidFill>
                <a:srgbClr val="FF6B3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62700" y="2133600"/>
            <a:ext cx="476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LLM 不是存储器，</a:t>
            </a:r>
            <a:endParaRPr sz="2250" b="1">
              <a:solidFill>
                <a:srgbClr val="111111"/>
              </a:solidFill>
            </a:endParaRPr>
          </a:p>
          <a:p>
            <a:pPr>
              <a:lnSpc>
                <a:spcPct val="112000"/>
              </a:lnSpc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记忆是“客户端帮它不断重建的上下文”。</a:t>
            </a:r>
            <a:endParaRPr sz="2250" b="1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62700" y="3733800"/>
            <a:ext cx="4762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所以</a:t>
            </a:r>
            <a:r>
              <a:rPr lang="zh-CN" altLang="en-US" sz="1650">
                <a:solidFill>
                  <a:srgbClr val="555555"/>
                </a:solidFill>
              </a:rPr>
              <a:t>记忆机制真正要解决的，不只是把信息存起来，而是把长期保存的内容，在合适的时候挑出来，塞进这次上下文里，让 </a:t>
            </a:r>
            <a:r>
              <a:rPr lang="en-US" altLang="zh-CN" sz="1650">
                <a:solidFill>
                  <a:srgbClr val="555555"/>
                </a:solidFill>
              </a:rPr>
              <a:t>agent </a:t>
            </a:r>
            <a:r>
              <a:rPr lang="zh-CN" altLang="en-US" sz="1650">
                <a:solidFill>
                  <a:srgbClr val="555555"/>
                </a:solidFill>
              </a:rPr>
              <a:t>知道该看什么、该信什么、该忽略什么。</a:t>
            </a:r>
            <a:endParaRPr lang="zh-CN" altLang="en-US" sz="1650">
              <a:solidFill>
                <a:srgbClr val="5555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56045" y="5153025"/>
            <a:ext cx="4762500" cy="4565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55555"/>
                </a:solidFill>
              </a:defRPr>
            </a:pPr>
            <a:r>
              <a:rPr sz="1600" b="1">
                <a:solidFill>
                  <a:srgbClr val="555555"/>
                </a:solidFill>
              </a:rPr>
              <a:t>这就是 agent 记忆和聊天记忆的分水岭</a:t>
            </a:r>
            <a:r>
              <a:rPr sz="1200" b="1">
                <a:solidFill>
                  <a:srgbClr val="555555"/>
                </a:solidFill>
              </a:rPr>
              <a:t>。</a:t>
            </a:r>
            <a:endParaRPr sz="1200" b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11058525" cy="106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记忆不是“对话历史”，而是“可复用状态”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71450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短期记忆管继续聊，长期记忆管继续干活。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03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14500"/>
            <a:ext cx="4762500" cy="165735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18859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短期记忆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2247900"/>
            <a:ext cx="4095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当前轮上下文</a:t>
            </a:r>
            <a:endParaRPr sz="1650">
              <a:solidFill>
                <a:srgbClr val="555555"/>
              </a:solidFill>
            </a:endParaRPr>
          </a:p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窗口快满就压缩</a:t>
            </a:r>
            <a:endParaRPr sz="1650">
              <a:solidFill>
                <a:srgbClr val="555555"/>
              </a:solidFill>
            </a:endParaRPr>
          </a:p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解决的是“继续聊”</a:t>
            </a:r>
            <a:endParaRPr sz="1650">
              <a:solidFill>
                <a:srgbClr val="55555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638550"/>
            <a:ext cx="4762500" cy="228600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8100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长期记忆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4171950"/>
            <a:ext cx="4095750" cy="155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用户画像</a:t>
            </a:r>
            <a:endParaRPr sz="1650">
              <a:solidFill>
                <a:srgbClr val="555555"/>
              </a:solidFill>
            </a:endParaRPr>
          </a:p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行为偏好</a:t>
            </a:r>
            <a:endParaRPr sz="1650">
              <a:solidFill>
                <a:srgbClr val="555555"/>
              </a:solidFill>
            </a:endParaRPr>
          </a:p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项目动态</a:t>
            </a:r>
            <a:endParaRPr sz="1650">
              <a:solidFill>
                <a:srgbClr val="555555"/>
              </a:solidFill>
            </a:endParaRPr>
          </a:p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外部指针</a:t>
            </a:r>
            <a:endParaRPr sz="1650">
              <a:solidFill>
                <a:srgbClr val="55555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54451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跨会话活下来，才叫真正的“记住”。</a:t>
            </a:r>
            <a:endParaRPr sz="1200" b="1">
              <a:solidFill>
                <a:srgbClr val="FF6B35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2309015"/>
            <a:ext cx="5334000" cy="300197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334250" y="5810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文件柜式长期记忆：结构化、可索引、可更新。</a:t>
            </a:r>
            <a:endParaRPr sz="1125" b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主流方案为什么都</a:t>
            </a:r>
            <a:r>
              <a:rPr lang="zh-CN" sz="4200" b="1">
                <a:solidFill>
                  <a:srgbClr val="111111"/>
                </a:solidFill>
              </a:rPr>
              <a:t>不够</a:t>
            </a:r>
            <a:r>
              <a:rPr lang="zh-CN" sz="4200" b="1">
                <a:solidFill>
                  <a:srgbClr val="111111"/>
                </a:solidFill>
              </a:rPr>
              <a:t>看</a:t>
            </a:r>
            <a:endParaRPr lang="zh-CN"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71450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看上去都合理，真上手就会露短板。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04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14500"/>
            <a:ext cx="10477500" cy="4953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182880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方案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76500" y="182880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能做什么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0" y="1828800"/>
            <a:ext cx="2647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卡在哪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667750" y="1828800"/>
            <a:ext cx="226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适合什么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209800"/>
            <a:ext cx="104775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236220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滑动窗口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476500" y="2362200"/>
            <a:ext cx="2933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保留最近 N 轮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15000" y="2362200"/>
            <a:ext cx="2647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容易丢掉关键事实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667750" y="2362200"/>
            <a:ext cx="2266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短会话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3067050"/>
            <a:ext cx="10477500" cy="857250"/>
          </a:xfrm>
          <a:prstGeom prst="rect">
            <a:avLst/>
          </a:prstGeom>
          <a:solidFill>
            <a:srgbClr val="FBFBFB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321945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对话摘要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76500" y="3219450"/>
            <a:ext cx="2933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压缩历史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715000" y="3219450"/>
            <a:ext cx="2647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信息会被抽象变形</a:t>
            </a:r>
            <a:r>
              <a:rPr lang="zh-CN" sz="1350" b="0">
                <a:solidFill>
                  <a:srgbClr val="555555"/>
                </a:solidFill>
                <a:ea typeface="宋体" panose="02010600030101010101" pitchFamily="2" charset="-122"/>
              </a:rPr>
              <a:t>，</a:t>
            </a:r>
            <a:r>
              <a:rPr lang="zh-CN" sz="1350" b="0">
                <a:solidFill>
                  <a:srgbClr val="555555"/>
                </a:solidFill>
                <a:ea typeface="宋体" panose="02010600030101010101" pitchFamily="2" charset="-122"/>
              </a:rPr>
              <a:t>且每一次摘要都会消耗</a:t>
            </a:r>
            <a:r>
              <a:rPr lang="en-US" altLang="zh-CN" sz="1350" b="0">
                <a:solidFill>
                  <a:srgbClr val="555555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350" b="0">
                <a:solidFill>
                  <a:srgbClr val="555555"/>
                </a:solidFill>
                <a:ea typeface="宋体" panose="02010600030101010101" pitchFamily="2" charset="-122"/>
              </a:rPr>
              <a:t>token</a:t>
            </a:r>
            <a:endParaRPr lang="en-US" altLang="zh-CN" sz="1350" b="0">
              <a:solidFill>
                <a:srgbClr val="555555"/>
              </a:solidFill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3219450"/>
            <a:ext cx="2266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粗粒度回顾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3924300"/>
            <a:ext cx="104775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407670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向量检索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476500" y="4076700"/>
            <a:ext cx="2933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按相似度召回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0" y="4076700"/>
            <a:ext cx="2647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阈值难定，召回不稳</a:t>
            </a:r>
            <a:r>
              <a:rPr lang="zh-CN" sz="1350" b="0">
                <a:solidFill>
                  <a:srgbClr val="555555"/>
                </a:solidFill>
                <a:ea typeface="宋体" panose="02010600030101010101" pitchFamily="2" charset="-122"/>
              </a:rPr>
              <a:t>，且相似不等于相关，存的浮点数用户</a:t>
            </a:r>
            <a:r>
              <a:rPr lang="zh-CN" sz="1350" b="0">
                <a:solidFill>
                  <a:srgbClr val="555555"/>
                </a:solidFill>
                <a:ea typeface="宋体" panose="02010600030101010101" pitchFamily="2" charset="-122"/>
              </a:rPr>
              <a:t>没法看</a:t>
            </a:r>
            <a:endParaRPr lang="zh-CN" sz="1350" b="0">
              <a:solidFill>
                <a:srgbClr val="555555"/>
              </a:solidFill>
              <a:ea typeface="宋体" panose="02010600030101010101" pitchFamily="2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0" y="4076700"/>
            <a:ext cx="2266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海量文本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4781550"/>
            <a:ext cx="10477500" cy="857250"/>
          </a:xfrm>
          <a:prstGeom prst="rect">
            <a:avLst/>
          </a:prstGeom>
          <a:solidFill>
            <a:srgbClr val="FBFBFB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493395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分层存储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476500" y="4933950"/>
            <a:ext cx="2933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热 / 冷 分开</a:t>
            </a:r>
            <a:r>
              <a:rPr lang="zh-CN" sz="1350" b="0">
                <a:solidFill>
                  <a:srgbClr val="555555"/>
                </a:solidFill>
                <a:ea typeface="宋体" panose="02010600030101010101" pitchFamily="2" charset="-122"/>
              </a:rPr>
              <a:t>（</a:t>
            </a:r>
            <a:r>
              <a:rPr lang="zh-CN" altLang="en-US" sz="1350" b="0">
                <a:solidFill>
                  <a:srgbClr val="555555"/>
                </a:solidFill>
                <a:ea typeface="宋体" panose="02010600030101010101" pitchFamily="2" charset="-122"/>
              </a:rPr>
              <a:t>核心常驻，按需召回，长期归档）</a:t>
            </a:r>
            <a:endParaRPr lang="zh-CN" altLang="en-US" sz="1350" b="0">
              <a:solidFill>
                <a:srgbClr val="555555"/>
              </a:solidFill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715000" y="4933950"/>
            <a:ext cx="2647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自由文本仍然杂乱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667750" y="4933950"/>
            <a:ext cx="2266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归档场景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5638800"/>
            <a:ext cx="10972800" cy="756285"/>
          </a:xfrm>
          <a:prstGeom prst="rect">
            <a:avLst/>
          </a:prstGeom>
          <a:solidFill>
            <a:srgbClr val="F2F2F2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38200" y="5781675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共同病根：自由文本</a:t>
            </a:r>
            <a:r>
              <a:rPr lang="zh-CN" sz="1650" b="1">
                <a:solidFill>
                  <a:srgbClr val="111111"/>
                </a:solidFill>
              </a:rPr>
              <a:t>无约束（存什么、不存什么没有规则）</a:t>
            </a:r>
            <a:r>
              <a:rPr sz="1650" b="1">
                <a:solidFill>
                  <a:srgbClr val="111111"/>
                </a:solidFill>
              </a:rPr>
              <a:t>、</a:t>
            </a:r>
            <a:r>
              <a:rPr lang="zh-CN" sz="1650" b="1">
                <a:solidFill>
                  <a:srgbClr val="111111"/>
                </a:solidFill>
              </a:rPr>
              <a:t>不区分类型、</a:t>
            </a:r>
            <a:r>
              <a:rPr sz="1650" b="1">
                <a:solidFill>
                  <a:srgbClr val="111111"/>
                </a:solidFill>
              </a:rPr>
              <a:t>没有老化机制、重检索轻写入</a:t>
            </a:r>
            <a:r>
              <a:rPr lang="zh-CN" sz="1650" b="1">
                <a:solidFill>
                  <a:srgbClr val="111111"/>
                </a:solidFill>
                <a:ea typeface="宋体" panose="02010600030101010101" pitchFamily="2" charset="-122"/>
              </a:rPr>
              <a:t>（重点都在如何查到，但是该存什么、不该存什么没有</a:t>
            </a:r>
            <a:r>
              <a:rPr lang="zh-CN" sz="1650" b="1">
                <a:solidFill>
                  <a:srgbClr val="111111"/>
                </a:solidFill>
                <a:ea typeface="宋体" panose="02010600030101010101" pitchFamily="2" charset="-122"/>
              </a:rPr>
              <a:t>解决）</a:t>
            </a:r>
            <a:r>
              <a:rPr sz="1650" b="1">
                <a:solidFill>
                  <a:srgbClr val="111111"/>
                </a:solidFill>
              </a:rPr>
              <a:t>。</a:t>
            </a:r>
            <a:endParaRPr sz="1650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Claude Code 的记忆架构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71450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索引始终在 prompt 里，完整内容按需展开。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05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695450"/>
            <a:ext cx="6667500" cy="156210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8669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声明层</a:t>
            </a:r>
            <a:endParaRPr lang="zh-CN" sz="1350" b="1">
              <a:solidFill>
                <a:srgbClr val="FF6B35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133600"/>
            <a:ext cx="609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CLAUDE.md</a:t>
            </a:r>
            <a:r>
              <a:rPr lang="zh-CN" sz="2550" b="1">
                <a:solidFill>
                  <a:srgbClr val="111111"/>
                </a:solidFill>
                <a:ea typeface="宋体" panose="02010600030101010101" pitchFamily="2" charset="-122"/>
              </a:rPr>
              <a:t>（公司</a:t>
            </a:r>
            <a:r>
              <a:rPr lang="zh-CN" sz="2550" b="1">
                <a:solidFill>
                  <a:srgbClr val="111111"/>
                </a:solidFill>
                <a:ea typeface="宋体" panose="02010600030101010101" pitchFamily="2" charset="-122"/>
              </a:rPr>
              <a:t>手册）</a:t>
            </a:r>
            <a:endParaRPr lang="zh-CN" sz="2550" b="1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571750"/>
            <a:ext cx="609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6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项目约定 / 工作流 / 约束</a:t>
            </a:r>
            <a:endParaRPr sz="1500">
              <a:solidFill>
                <a:srgbClr val="555555"/>
              </a:solidFill>
            </a:endParaRPr>
          </a:p>
          <a:p>
            <a:pPr>
              <a:lnSpc>
                <a:spcPct val="116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它更像“说明书”，不是历史日志。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3429000"/>
            <a:ext cx="6667500" cy="14859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619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学习层</a:t>
            </a:r>
            <a:endParaRPr sz="1350" b="1">
              <a:solidFill>
                <a:srgbClr val="FF6B3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886200"/>
            <a:ext cx="609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MEMORY.md</a:t>
            </a:r>
            <a:r>
              <a:rPr lang="zh-CN" sz="2250" b="1">
                <a:solidFill>
                  <a:srgbClr val="111111"/>
                </a:solidFill>
                <a:ea typeface="宋体" panose="02010600030101010101" pitchFamily="2" charset="-122"/>
              </a:rPr>
              <a:t>（自己的</a:t>
            </a:r>
            <a:r>
              <a:rPr lang="zh-CN" sz="2250" b="1">
                <a:solidFill>
                  <a:srgbClr val="111111"/>
                </a:solidFill>
                <a:ea typeface="宋体" panose="02010600030101010101" pitchFamily="2" charset="-122"/>
              </a:rPr>
              <a:t>工作笔记）</a:t>
            </a:r>
            <a:endParaRPr lang="zh-CN" sz="2250" b="1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4286250"/>
            <a:ext cx="609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索引常驻，内容按需加载</a:t>
            </a:r>
            <a:endParaRPr sz="1425">
              <a:solidFill>
                <a:srgbClr val="555555"/>
              </a:solidFill>
            </a:endParaRPr>
          </a:p>
          <a:p>
            <a:pPr>
              <a:lnSpc>
                <a:spcPct val="118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让 agent 知道“有什么”，但不一次性塞爆上下文。</a:t>
            </a:r>
            <a:endParaRPr sz="1425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5219700"/>
            <a:ext cx="6858000" cy="14465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48005" y="5409565"/>
            <a:ext cx="1089025" cy="789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6B35"/>
                </a:solidFill>
              </a:defRPr>
            </a:pPr>
            <a:r>
              <a:rPr lang="en-US" sz="1350" b="1">
                <a:solidFill>
                  <a:srgbClr val="FF6B35"/>
                </a:solidFill>
              </a:rPr>
              <a:t>AI</a:t>
            </a:r>
            <a:r>
              <a:rPr lang="zh-CN" altLang="en-US" sz="1350" b="1">
                <a:solidFill>
                  <a:srgbClr val="FF6B35"/>
                </a:solidFill>
              </a:rPr>
              <a:t>需要长期</a:t>
            </a:r>
            <a:r>
              <a:rPr lang="zh-CN" altLang="en-US" sz="1350" b="1">
                <a:solidFill>
                  <a:srgbClr val="FF6B35"/>
                </a:solidFill>
              </a:rPr>
              <a:t>记忆的</a:t>
            </a:r>
            <a:r>
              <a:rPr sz="1350" b="1">
                <a:solidFill>
                  <a:srgbClr val="FF6B35"/>
                </a:solidFill>
              </a:rPr>
              <a:t>四类内容</a:t>
            </a:r>
            <a:endParaRPr sz="1350" b="1">
              <a:solidFill>
                <a:srgbClr val="FF6B3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742440" y="5483225"/>
            <a:ext cx="1153795" cy="48514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865630" y="5589270"/>
            <a:ext cx="969010" cy="211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user / 用户画像</a:t>
            </a:r>
            <a:endParaRPr sz="900" b="1">
              <a:solidFill>
                <a:srgbClr val="11111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963545" y="5484495"/>
            <a:ext cx="1101725" cy="48387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056890" y="55721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feedback / 行为偏好</a:t>
            </a:r>
            <a:endParaRPr sz="900" b="1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176395" y="5486400"/>
            <a:ext cx="1104900" cy="4826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266565" y="5572125"/>
            <a:ext cx="914400" cy="3340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project / 项目动态</a:t>
            </a:r>
            <a:endParaRPr sz="900" b="1">
              <a:solidFill>
                <a:srgbClr val="11111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92420" y="5485765"/>
            <a:ext cx="1104900" cy="48895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20055" y="558927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reference / 外部指针</a:t>
            </a:r>
            <a:endParaRPr sz="900" b="1">
              <a:solidFill>
                <a:srgbClr val="11111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0" y="1714500"/>
            <a:ext cx="3771900" cy="432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077200" y="19050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这套结构的核心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077200" y="2266950"/>
            <a:ext cx="31242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22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1. 先分类，再写入</a:t>
            </a:r>
            <a:endParaRPr sz="1950" b="1">
              <a:solidFill>
                <a:srgbClr val="111111"/>
              </a:solidFill>
            </a:endParaRPr>
          </a:p>
          <a:p>
            <a:pPr algn="ctr">
              <a:lnSpc>
                <a:spcPct val="122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2. 先索引，再展开</a:t>
            </a:r>
            <a:endParaRPr sz="1950" b="1">
              <a:solidFill>
                <a:srgbClr val="111111"/>
              </a:solidFill>
            </a:endParaRPr>
          </a:p>
          <a:p>
            <a:pPr algn="ctr">
              <a:lnSpc>
                <a:spcPct val="122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3. 先约束，再学习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77200" y="4000500"/>
            <a:ext cx="3105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Claude Code 不是把所有事情都扔进一个 CLAUDE.md，</a:t>
            </a:r>
            <a:endParaRPr sz="1500">
              <a:solidFill>
                <a:srgbClr val="555555"/>
              </a:solidFill>
            </a:endParaRPr>
          </a:p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而是让记忆变成结构化、可检索、可更新的工作系统。</a:t>
            </a:r>
            <a:endParaRPr sz="15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写入记忆：先判断，再压缩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71450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记忆是被抽取出来的，不是把原文一股脑塞进去。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06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2476500"/>
            <a:ext cx="1676400" cy="14230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6098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1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857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扫描新信息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32004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从对话、文件、工具结果里找可复用的信号。</a:t>
            </a:r>
            <a:endParaRPr sz="1125">
              <a:solidFill>
                <a:srgbClr val="55555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419350" y="28956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  <a:endParaRPr sz="1950" b="1">
              <a:solidFill>
                <a:srgbClr val="55555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628900" y="2476500"/>
            <a:ext cx="1676400" cy="142367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781300" y="26098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2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81300" y="2857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分类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81300" y="32004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落到 user / feedback / project / reference 四类。</a:t>
            </a:r>
            <a:endParaRPr sz="1125">
              <a:solidFill>
                <a:srgbClr val="5555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362450" y="28956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  <a:endParaRPr sz="1950" b="1">
              <a:solidFill>
                <a:srgbClr val="55555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0" y="2476500"/>
            <a:ext cx="1676400" cy="14128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24400" y="26098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3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724400" y="2857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提炼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24400" y="32004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把长句压成短句，保留最稳定的事实。</a:t>
            </a:r>
            <a:endParaRPr sz="1125">
              <a:solidFill>
                <a:srgbClr val="555555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05550" y="28956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  <a:endParaRPr sz="1950" b="1">
              <a:solidFill>
                <a:srgbClr val="5555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15100" y="2476500"/>
            <a:ext cx="1676400" cy="1412875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667500" y="26098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4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0" y="2857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标记时间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67500" y="32004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2 天以前的记忆会被提醒为“历史快照”。</a:t>
            </a:r>
            <a:endParaRPr sz="1125">
              <a:solidFill>
                <a:srgbClr val="555555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248650" y="28956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  <a:endParaRPr sz="1950" b="1">
              <a:solidFill>
                <a:srgbClr val="55555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458200" y="2476500"/>
            <a:ext cx="1676400" cy="14230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610600" y="26098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5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10600" y="2857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写入/更新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610600" y="32004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最终落到结构化记忆文件里。</a:t>
            </a:r>
            <a:endParaRPr sz="1125">
              <a:solidFill>
                <a:srgbClr val="55555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" y="4305300"/>
            <a:ext cx="10972800" cy="1430655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38200" y="4533900"/>
            <a:ext cx="1032764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2 天以前的记忆会主动带上 stale 提醒；如果和当前文件、函数名、flag 冲突，agent 要先验证再相信。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9470" y="530098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55555"/>
                </a:solidFill>
              </a:defRPr>
            </a:pPr>
            <a:r>
              <a:rPr lang="en-US" altLang="zh-CN" sz="1400" b="1">
                <a:solidFill>
                  <a:srgbClr val="555555"/>
                </a:solidFill>
                <a:uFillTx/>
              </a:rPr>
              <a:t>agent </a:t>
            </a:r>
            <a:r>
              <a:rPr lang="zh-CN" altLang="en-US" sz="1400" b="1">
                <a:solidFill>
                  <a:srgbClr val="555555"/>
                </a:solidFill>
                <a:uFillTx/>
              </a:rPr>
              <a:t>先把有用信息提炼成结构化记忆，后面再读出来使用。</a:t>
            </a:r>
            <a:endParaRPr lang="zh-CN" altLang="en-US" sz="1400" b="1">
              <a:solidFill>
                <a:srgbClr val="555555"/>
              </a:solidFill>
              <a:uFillTx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读取记忆：按需展开，先验证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71450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最危险的不是召回不准，而是把过期记忆当成真理。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07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14500"/>
            <a:ext cx="4857750" cy="11430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8859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1. 索引常驻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190750"/>
            <a:ext cx="424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5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MEMORY.md </a:t>
            </a:r>
            <a:r>
              <a:rPr lang="zh-CN" sz="1350">
                <a:solidFill>
                  <a:srgbClr val="555555"/>
                </a:solidFill>
                <a:ea typeface="宋体" panose="02010600030101010101" pitchFamily="2" charset="-122"/>
              </a:rPr>
              <a:t>（即</a:t>
            </a:r>
            <a:r>
              <a:rPr lang="en-US" altLang="zh-CN" sz="1350">
                <a:solidFill>
                  <a:srgbClr val="555555"/>
                </a:solidFill>
                <a:ea typeface="宋体" panose="02010600030101010101" pitchFamily="2" charset="-122"/>
              </a:rPr>
              <a:t>“</a:t>
            </a:r>
            <a:r>
              <a:rPr lang="zh-CN" altLang="en-US" sz="1350">
                <a:solidFill>
                  <a:srgbClr val="555555"/>
                </a:solidFill>
                <a:ea typeface="宋体" panose="02010600030101010101" pitchFamily="2" charset="-122"/>
              </a:rPr>
              <a:t>目录页</a:t>
            </a:r>
            <a:r>
              <a:rPr lang="en-US" altLang="zh-CN" sz="1350">
                <a:solidFill>
                  <a:srgbClr val="555555"/>
                </a:solidFill>
                <a:ea typeface="宋体" panose="02010600030101010101" pitchFamily="2" charset="-122"/>
              </a:rPr>
              <a:t>”</a:t>
            </a:r>
            <a:r>
              <a:rPr lang="zh-CN" sz="1350">
                <a:solidFill>
                  <a:srgbClr val="555555"/>
                </a:solidFill>
                <a:ea typeface="宋体" panose="02010600030101010101" pitchFamily="2" charset="-122"/>
              </a:rPr>
              <a:t>）</a:t>
            </a:r>
            <a:r>
              <a:rPr sz="1350">
                <a:solidFill>
                  <a:srgbClr val="555555"/>
                </a:solidFill>
              </a:rPr>
              <a:t>一直在 prompt 里，agent 先知道“有什么”再决定要不要展开。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009900"/>
            <a:ext cx="485775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1813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2. 内容按需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486150"/>
            <a:ext cx="424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5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候选集合不大时，让小模型挑 top-5，比把所有内容都塞进上下文更稳。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4305300"/>
            <a:ext cx="4857750" cy="11430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44767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3. 主动验证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4781550"/>
            <a:ext cx="424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5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如果记忆里写了路径、函数或 flag，先 grep 一下，再决定要不要用。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5695950"/>
            <a:ext cx="4857750" cy="4953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00100" y="5829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记忆不是真理，它只是历史快照。</a:t>
            </a:r>
            <a:endParaRPr sz="1350" b="1">
              <a:solidFill>
                <a:srgbClr val="111111"/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2383443"/>
            <a:ext cx="5238750" cy="2948363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124700" y="5886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55555"/>
                </a:solidFill>
              </a:defRPr>
            </a:pPr>
            <a:r>
              <a:rPr sz="1600" b="1">
                <a:solidFill>
                  <a:srgbClr val="555555"/>
                </a:solidFill>
              </a:rPr>
              <a:t>过期记忆要提醒，冲突记忆要复核。</a:t>
            </a:r>
            <a:endParaRPr sz="1600" b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10499090" cy="1055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能直接抄进自己 agent 项目的 4 条原则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71450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把记忆做成结构化系统，而不是一堆随手写下来的文本。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08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828800"/>
            <a:ext cx="5105400" cy="142875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0002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结构化优于自由文本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400300"/>
            <a:ext cx="4705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先分类，再写入；字段越明确，后面越好检索。</a:t>
            </a:r>
            <a:endParaRPr sz="1425">
              <a:solidFill>
                <a:srgbClr val="55555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29350" y="1828800"/>
            <a:ext cx="5105400" cy="142875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00800" y="20002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索引常驻 + 内容按需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00800" y="2400300"/>
            <a:ext cx="4705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让 agent 知道“有什么”，但不要一次性塞满上下文。</a:t>
            </a:r>
            <a:endParaRPr sz="1425">
              <a:solidFill>
                <a:srgbClr val="55555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3581400"/>
            <a:ext cx="5105400" cy="142875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37528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廉价模型做选择题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4152900"/>
            <a:ext cx="4705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候选不大时，小模型比阈值检索更可解释。</a:t>
            </a:r>
            <a:endParaRPr sz="1425">
              <a:solidFill>
                <a:srgbClr val="5555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3581400"/>
            <a:ext cx="5105400" cy="142875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00800" y="37528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时间感知 + 主动验证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00800" y="4152900"/>
            <a:ext cx="4705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记忆会过期，拿来用之前最好先验证一次。</a:t>
            </a:r>
            <a:endParaRPr sz="1425">
              <a:solidFill>
                <a:srgbClr val="55555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5372100"/>
            <a:ext cx="10725150" cy="7620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55816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面试回答顺序：LLM 无状态 → 主流方案短板 → Claude Code 的两层架构 → 可迁移原则。</a:t>
            </a:r>
            <a:endParaRPr sz="1650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07260" y="857250"/>
            <a:ext cx="666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一句话带走</a:t>
            </a:r>
            <a:endParaRPr sz="30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76400"/>
            <a:ext cx="10972800" cy="247650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2209800"/>
            <a:ext cx="102108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20000"/>
              </a:lnSpc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记忆不是把过去存起来，</a:t>
            </a:r>
            <a:endParaRPr sz="2400" b="1">
              <a:solidFill>
                <a:srgbClr val="111111"/>
              </a:solidFill>
            </a:endParaRPr>
          </a:p>
          <a:p>
            <a:pPr algn="ctr">
              <a:lnSpc>
                <a:spcPct val="120000"/>
              </a:lnSpc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而是让今天的 agent 知道该看什么、该信什么、该验证什么。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36195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6B35"/>
                </a:solidFill>
              </a:defRPr>
            </a:pPr>
            <a:endParaRPr sz="1350" b="1">
              <a:solidFill>
                <a:srgbClr val="FF6B3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4095750"/>
            <a:ext cx="952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800">
                <a:solidFill>
                  <a:srgbClr val="555555"/>
                </a:solidFill>
              </a:defRPr>
            </a:pPr>
            <a:endParaRPr lang="zh-CN" sz="1800">
              <a:solidFill>
                <a:srgbClr val="555555"/>
              </a:solidFill>
            </a:endParaRPr>
          </a:p>
          <a:p>
            <a:pPr algn="ctr">
              <a:lnSpc>
                <a:spcPct val="118000"/>
              </a:lnSpc>
              <a:buNone/>
              <a:defRPr sz="1800">
                <a:solidFill>
                  <a:srgbClr val="555555"/>
                </a:solidFill>
              </a:defRPr>
            </a:pPr>
            <a:r>
              <a:rPr lang="zh-CN" sz="1800">
                <a:solidFill>
                  <a:srgbClr val="555555"/>
                </a:solidFill>
              </a:rPr>
              <a:t>总结：</a:t>
            </a:r>
            <a:r>
              <a:rPr sz="1800">
                <a:solidFill>
                  <a:srgbClr val="555555"/>
                </a:solidFill>
              </a:rPr>
              <a:t>agent 的记忆不是自然长出来的，而是被结构化设计出来的状态系统。</a:t>
            </a:r>
            <a:endParaRPr sz="1800">
              <a:solidFill>
                <a:srgbClr val="55555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295775" y="52578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谢谢</a:t>
            </a:r>
            <a:r>
              <a:rPr lang="zh-CN" sz="1500" b="1">
                <a:solidFill>
                  <a:srgbClr val="111111"/>
                </a:solidFill>
                <a:ea typeface="宋体" panose="02010600030101010101" pitchFamily="2" charset="-122"/>
              </a:rPr>
              <a:t>！</a:t>
            </a:r>
            <a:endParaRPr lang="zh-CN" sz="1500" b="1">
              <a:solidFill>
                <a:srgbClr val="111111"/>
              </a:solidFill>
              <a:ea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09</a:t>
            </a:r>
            <a:endParaRPr sz="105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1892</Words>
  <Application>WPS 演示</Application>
  <PresentationFormat>Converted Presentation</PresentationFormat>
  <Paragraphs>254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LZD</cp:lastModifiedBy>
  <cp:revision>4</cp:revision>
  <dcterms:created xsi:type="dcterms:W3CDTF">2026-06-28T17:29:04Z</dcterms:created>
  <dcterms:modified xsi:type="dcterms:W3CDTF">2026-06-28T18:14:50Z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7C1C28E68A02421F8D0E6E3B5442BF89_12</vt:lpwstr>
  </property>
</Properties>
</file>